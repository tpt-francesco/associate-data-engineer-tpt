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6EFBFEC1-DCD4-EF75-4D76-1B3DEBFD0BD9}">
          <p14:sldIdLst>
            <p14:sldId id="256"/>
            <p14:sldId id="257"/>
          </p14:sldIdLst>
        </p14:section>
        <p14:section name="Recorrido" id="{C1FF71F3-48C9-4E7C-CF72-69CF13318C87}">
          <p14:sldIdLst>
            <p14:sldId id="258"/>
            <p14:sldId id="259"/>
            <p14:sldId id="260"/>
            <p14:sldId id="261"/>
          </p14:sldIdLst>
        </p14:section>
        <p14:section name="Delta Lake" id="{FE0379E5-B223-05F1-E2AF-0A6DAE995A4A}">
          <p14:sldIdLst>
            <p14:sldId id="262"/>
            <p14:sldId id="263"/>
            <p14:sldId id="264"/>
            <p14:sldId id="265"/>
            <p14:sldId id="266"/>
            <p14:sldId id="267"/>
            <p14:sldId id="268"/>
          </p14:sldIdLst>
        </p14:section>
        <p14:section name="Cierre" id="{6A40C4C6-11F7-2EB0-63DB-02090A042F7D}">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045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Este laboratorio es la base de todo lo que sigue: antes de ingerir datos hay que entender dónde quedan guardados. La sección 1 pesa poco en el examen, pero sin ella no se entiende ninguna otra.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bloques. Al final de cada uno hay un resumen de lo que suele preguntar el examen. El laboratorio se hace en Databricks Free Edition con datos ficticios generados en el notebook.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cada sección en vivo. Lo más importante para hoy: Workspace, para abrir el notebook desde el Git folder, y Catalog, para ver las tablas que vamos a crear.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típica de examen: qué compute conviene para un proceso nocturno (job compute o serverless) y cuál para un dashboard (SQL warehouse). En Free Edition solo hay serverless, pero el examen pregunta por todos.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jerarquía de Unity Catalog. El metastore está por encima y puede asignarse a varios workspaces de la misma región: así comparten los mismos datos y permisos. La gobernanza en detalle se ve en la Lección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del Cuestionario 0: qué es un lakehouse. La clave es que los datos están en archivos abiertos (Parquet) pero con las garantías de un warehouse gracias a Delta Lake.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registro de transacciones es lo que da las garantías ACID: una escritura queda completa en el log o no existe. También guarda estadísticas por archivo (mínimos y máximos), que permiten saltarse archivos al consultar: data skipping.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secuencia exacta que hace el notebook en la sección 1. Pide que miren operationMetrics de la versión 3: muestra cuántas filas se eliminaron.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notebook simulamos un accidente: un DELETE sin WHERE. Con RESTORE volvemos a la última versión buena. VACUUM se ve en detalle en la Lección 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UPDATE genera dos filas: preimage y postimage. Además vienen _commit_version y _commit_timestamp. Es la base para propagar cambios de bronze a silver sin releer toda la tabla.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única parte del laboratorio en Python. Explica línea por línea: write es la escritura, mode append agrega filas, option mergeSchema permite columnas nuevas y saveAsTable escribe en la tabla.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para el examen. El Cuestionario 1 evalúa exactamente estos seis temas.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Si alguna celda falla, que copien el mensaje de error en su entrega del laboratorio.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868680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3977640"/>
            <a:ext cx="8686800" cy="91440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834640"/>
            <a:ext cx="10058400" cy="9144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3840480"/>
            <a:ext cx="10058400" cy="73152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Laboratorio 0 · Delta Lake</a:t>
            </a:r>
            <a:endParaRPr lang="en-US" sz="1000" dirty="0"/>
          </a:p>
        </p:txBody>
      </p:sp>
      <p:sp>
        <p:nvSpPr>
          <p:cNvPr id="3" name="Text 1"/>
          <p:cNvSpPr>
            <a:spLocks noGrp="1"/>
          </p:cNvSpPr>
          <p:nvPr>
            <p:ph type="title" idx="101" hasCustomPrompt="1"/>
          </p:nvPr>
        </p:nvSpPr>
        <p:spPr>
          <a:xfrm>
            <a:off x="548640" y="411480"/>
            <a:ext cx="11094415" cy="82296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463040"/>
            <a:ext cx="8229600" cy="365760"/>
          </a:xfrm>
          <a:prstGeom prst="rect">
            <a:avLst/>
          </a:prstGeom>
          <a:noFill/>
          <a:ln/>
        </p:spPr>
        <p:txBody>
          <a:bodyPr wrap="square" lIns="0" tIns="0" rIns="0" bIns="0" rtlCol="0" anchor="t"/>
          <a:lstStyle/>
          <a:p>
            <a:pPr marL="0" indent="0">
              <a:buNone/>
            </a:pPr>
            <a:r>
              <a:rPr lang="en-US" sz="1400" b="1" kern="0" spc="200" dirty="0">
                <a:solidFill>
                  <a:schemeClr val="accent2"/>
                </a:solidFill>
              </a:rPr>
              <a:t>RUTA DATA ENGINEER ASSOCIATE · LABORATORIO 0</a:t>
            </a:r>
            <a:endParaRPr lang="en-US" sz="1400" dirty="0"/>
          </a:p>
        </p:txBody>
      </p:sp>
      <p:sp>
        <p:nvSpPr>
          <p:cNvPr id="3" name="Text 0"/>
          <p:cNvSpPr>
            <a:spLocks noGrp="1"/>
          </p:cNvSpPr>
          <p:nvPr>
            <p:ph type="title" idx="100" hasCustomPrompt="1"/>
          </p:nvPr>
        </p:nvSpPr>
        <p:spPr>
          <a:xfrm>
            <a:off x="548640" y="2103120"/>
            <a:ext cx="8686800" cy="1737360"/>
          </a:xfrm>
          <a:prstGeom prst="rect">
            <a:avLst/>
          </a:prstGeom>
          <a:noFill/>
          <a:ln/>
        </p:spPr>
        <p:txBody>
          <a:bodyPr wrap="square" lIns="0" tIns="0" rIns="0" bIns="0" rtlCol="0" anchor="t"/>
          <a:lstStyle/>
          <a:p>
            <a:pPr marL="0" indent="0" algn="l">
              <a:buNone/>
            </a:pPr>
            <a:r>
              <a:rPr lang="en-US" sz="4400" b="1" dirty="0">
                <a:solidFill>
                  <a:schemeClr val="bg1"/>
                </a:solidFill>
              </a:rPr>
              <a:t>Delta Lake: cómo funciona una tabla</a:t>
            </a:r>
            <a:endParaRPr lang="en-US" sz="4400" dirty="0"/>
          </a:p>
        </p:txBody>
      </p:sp>
      <p:sp>
        <p:nvSpPr>
          <p:cNvPr id="4" name="Text 0"/>
          <p:cNvSpPr>
            <a:spLocks noGrp="1"/>
          </p:cNvSpPr>
          <p:nvPr>
            <p:ph type="body" idx="101" hasCustomPrompt="1"/>
          </p:nvPr>
        </p:nvSpPr>
        <p:spPr>
          <a:xfrm>
            <a:off x="548640" y="3977640"/>
            <a:ext cx="8686800" cy="914400"/>
          </a:xfrm>
          <a:prstGeom prst="rect">
            <a:avLst/>
          </a:prstGeom>
          <a:noFill/>
          <a:ln/>
        </p:spPr>
        <p:txBody>
          <a:bodyPr wrap="square" lIns="0" tIns="0" rIns="0" bIns="0" rtlCol="0" anchor="t"/>
          <a:lstStyle/>
          <a:p>
            <a:pPr marL="0" indent="0">
              <a:buNone/>
            </a:pPr>
            <a:r>
              <a:rPr lang="en-US" sz="1800" dirty="0">
                <a:solidFill>
                  <a:schemeClr val="bg2"/>
                </a:solidFill>
              </a:rPr>
              <a:t>Recorrido por el workspace, Delta Log, time travel, Change Data Feed y schema</a:t>
            </a:r>
            <a:endParaRPr lang="en-US" sz="1800" dirty="0"/>
          </a:p>
        </p:txBody>
      </p:sp>
      <p:sp>
        <p:nvSpPr>
          <p:cNvPr id="5" name="Portada círculo"/>
          <p:cNvSpPr/>
          <p:nvPr/>
        </p:nvSpPr>
        <p:spPr>
          <a:xfrm>
            <a:off x="9509760" y="2011680"/>
            <a:ext cx="2011680" cy="2011680"/>
          </a:xfrm>
          <a:prstGeom prst="ellipse">
            <a:avLst/>
          </a:prstGeom>
          <a:solidFill>
            <a:schemeClr val="accent2"/>
          </a:solidFill>
          <a:ln w="12700">
            <a:solidFill>
              <a:schemeClr val="accent2"/>
            </a:solidFill>
            <a:prstDash val="solid"/>
          </a:ln>
        </p:spPr>
      </p:sp>
      <p:pic>
        <p:nvPicPr>
          <p:cNvPr id="6" name="Portada ícono" descr="preencoded.png"/>
          <p:cNvPicPr>
            <a:picLocks noChangeAspect="1"/>
          </p:cNvPicPr>
          <p:nvPr/>
        </p:nvPicPr>
        <p:blipFill>
          <a:blip r:embed="rId3"/>
          <a:stretch>
            <a:fillRect/>
          </a:stretch>
        </p:blipFill>
        <p:spPr>
          <a:xfrm>
            <a:off x="10032797" y="2534717"/>
            <a:ext cx="965606" cy="965606"/>
          </a:xfrm>
          <a:prstGeom prst="rect">
            <a:avLst/>
          </a:prstGeom>
        </p:spPr>
      </p:pic>
      <p:sp>
        <p:nvSpPr>
          <p:cNvPr id="7" name="Pie portada"/>
          <p:cNvSpPr txBox="1"/>
          <p:nvPr/>
        </p:nvSpPr>
        <p:spPr>
          <a:xfrm>
            <a:off x="548640" y="5760720"/>
            <a:ext cx="7315200" cy="365760"/>
          </a:xfrm>
          <a:prstGeom prst="rect">
            <a:avLst/>
          </a:prstGeom>
          <a:noFill/>
          <a:ln/>
        </p:spPr>
        <p:txBody>
          <a:bodyPr wrap="square" lIns="0" tIns="0" rIns="0" bIns="0" rtlCol="0" anchor="t"/>
          <a:lstStyle/>
          <a:p>
            <a:pPr marL="0" indent="0">
              <a:buNone/>
            </a:pPr>
            <a:r>
              <a:rPr lang="en-US" sz="1400" dirty="0">
                <a:solidFill>
                  <a:schemeClr val="bg2"/>
                </a:solidFill>
              </a:rPr>
              <a:t>Sección 1 del examen · 6 % de las preguntas</a:t>
            </a:r>
            <a:endParaRPr lang="en-US" sz="1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Qué vas a aprender hoy</a:t>
            </a:r>
            <a:endParaRPr lang="en-US" sz="3000" dirty="0"/>
          </a:p>
        </p:txBody>
      </p:sp>
      <p:sp>
        <p:nvSpPr>
          <p:cNvPr id="3" name="Agenda 1 círculo"/>
          <p:cNvSpPr/>
          <p:nvPr/>
        </p:nvSpPr>
        <p:spPr>
          <a:xfrm>
            <a:off x="548640" y="1463040"/>
            <a:ext cx="640080" cy="640080"/>
          </a:xfrm>
          <a:prstGeom prst="ellipse">
            <a:avLst/>
          </a:prstGeom>
          <a:solidFill>
            <a:schemeClr val="accent2"/>
          </a:solidFill>
          <a:ln w="12700">
            <a:solidFill>
              <a:schemeClr val="accent2"/>
            </a:solidFill>
            <a:prstDash val="solid"/>
          </a:ln>
        </p:spPr>
      </p:sp>
      <p:pic>
        <p:nvPicPr>
          <p:cNvPr id="4" name="Agenda 1 ícono" descr="preencoded.png"/>
          <p:cNvPicPr>
            <a:picLocks noChangeAspect="1"/>
          </p:cNvPicPr>
          <p:nvPr/>
        </p:nvPicPr>
        <p:blipFill>
          <a:blip r:embed="rId3"/>
          <a:stretch>
            <a:fillRect/>
          </a:stretch>
        </p:blipFill>
        <p:spPr>
          <a:xfrm>
            <a:off x="715061" y="1629461"/>
            <a:ext cx="307238" cy="307238"/>
          </a:xfrm>
          <a:prstGeom prst="rect">
            <a:avLst/>
          </a:prstGeom>
        </p:spPr>
      </p:pic>
      <p:sp>
        <p:nvSpPr>
          <p:cNvPr id="5" name="Agenda título 1"/>
          <p:cNvSpPr txBox="1"/>
          <p:nvPr/>
        </p:nvSpPr>
        <p:spPr>
          <a:xfrm>
            <a:off x="1463040" y="1481328"/>
            <a:ext cx="6400800" cy="365760"/>
          </a:xfrm>
          <a:prstGeom prst="rect">
            <a:avLst/>
          </a:prstGeom>
          <a:noFill/>
          <a:ln/>
        </p:spPr>
        <p:txBody>
          <a:bodyPr wrap="square" lIns="0" tIns="0" rIns="0" bIns="0" rtlCol="0" anchor="t"/>
          <a:lstStyle/>
          <a:p>
            <a:pPr marL="0" indent="0">
              <a:buNone/>
            </a:pPr>
            <a:r>
              <a:rPr lang="en-US" sz="2000" b="1" dirty="0">
                <a:solidFill>
                  <a:schemeClr val="tx1"/>
                </a:solidFill>
              </a:rPr>
              <a:t>Recorrido por el workspace</a:t>
            </a:r>
            <a:endParaRPr lang="en-US" sz="2000" dirty="0"/>
          </a:p>
        </p:txBody>
      </p:sp>
      <p:sp>
        <p:nvSpPr>
          <p:cNvPr id="6" name="Agenda detalle 1"/>
          <p:cNvSpPr txBox="1"/>
          <p:nvPr/>
        </p:nvSpPr>
        <p:spPr>
          <a:xfrm>
            <a:off x="1463040" y="1828800"/>
            <a:ext cx="6400800" cy="320040"/>
          </a:xfrm>
          <a:prstGeom prst="rect">
            <a:avLst/>
          </a:prstGeom>
          <a:noFill/>
          <a:ln/>
        </p:spPr>
        <p:txBody>
          <a:bodyPr wrap="square" lIns="0" tIns="0" rIns="0" bIns="0" rtlCol="0" anchor="t"/>
          <a:lstStyle/>
          <a:p>
            <a:pPr marL="0" indent="0">
              <a:buNone/>
            </a:pPr>
            <a:r>
              <a:rPr lang="en-US" sz="1500" dirty="0">
                <a:solidFill>
                  <a:schemeClr val="accent4"/>
                </a:solidFill>
              </a:rPr>
              <a:t>Menú, compute y Unity Catalog</a:t>
            </a:r>
            <a:endParaRPr lang="en-US" sz="1500" dirty="0"/>
          </a:p>
        </p:txBody>
      </p:sp>
      <p:sp>
        <p:nvSpPr>
          <p:cNvPr id="7" name="Agenda tiempo 1"/>
          <p:cNvSpPr txBox="1"/>
          <p:nvPr/>
        </p:nvSpPr>
        <p:spPr>
          <a:xfrm>
            <a:off x="9326880" y="1600200"/>
            <a:ext cx="2286000" cy="365760"/>
          </a:xfrm>
          <a:prstGeom prst="rect">
            <a:avLst/>
          </a:prstGeom>
          <a:noFill/>
          <a:ln/>
        </p:spPr>
        <p:txBody>
          <a:bodyPr wrap="square" lIns="0" tIns="0" rIns="0" bIns="0" rtlCol="0" anchor="t"/>
          <a:lstStyle/>
          <a:p>
            <a:pPr marL="0" indent="0" algn="r">
              <a:buNone/>
            </a:pPr>
            <a:r>
              <a:rPr lang="en-US" sz="1600" dirty="0">
                <a:solidFill>
                  <a:schemeClr val="accent4"/>
                </a:solidFill>
              </a:rPr>
              <a:t>10-15 min</a:t>
            </a:r>
            <a:endParaRPr lang="en-US" sz="1600" dirty="0"/>
          </a:p>
        </p:txBody>
      </p:sp>
      <p:sp>
        <p:nvSpPr>
          <p:cNvPr id="8" name="Agenda 2 círculo"/>
          <p:cNvSpPr/>
          <p:nvPr/>
        </p:nvSpPr>
        <p:spPr>
          <a:xfrm>
            <a:off x="548640" y="2377440"/>
            <a:ext cx="640080" cy="640080"/>
          </a:xfrm>
          <a:prstGeom prst="ellipse">
            <a:avLst/>
          </a:prstGeom>
          <a:solidFill>
            <a:schemeClr val="tx2"/>
          </a:solidFill>
          <a:ln w="12700">
            <a:solidFill>
              <a:schemeClr val="tx2"/>
            </a:solidFill>
            <a:prstDash val="solid"/>
          </a:ln>
        </p:spPr>
      </p:sp>
      <p:pic>
        <p:nvPicPr>
          <p:cNvPr id="9" name="Agenda 2 ícono" descr="preencoded.png"/>
          <p:cNvPicPr>
            <a:picLocks noChangeAspect="1"/>
          </p:cNvPicPr>
          <p:nvPr/>
        </p:nvPicPr>
        <p:blipFill>
          <a:blip r:embed="rId4"/>
          <a:stretch>
            <a:fillRect/>
          </a:stretch>
        </p:blipFill>
        <p:spPr>
          <a:xfrm>
            <a:off x="715061" y="2543861"/>
            <a:ext cx="307238" cy="307238"/>
          </a:xfrm>
          <a:prstGeom prst="rect">
            <a:avLst/>
          </a:prstGeom>
        </p:spPr>
      </p:pic>
      <p:sp>
        <p:nvSpPr>
          <p:cNvPr id="10" name="Agenda título 2"/>
          <p:cNvSpPr txBox="1"/>
          <p:nvPr/>
        </p:nvSpPr>
        <p:spPr>
          <a:xfrm>
            <a:off x="1463040" y="2395728"/>
            <a:ext cx="6400800" cy="365760"/>
          </a:xfrm>
          <a:prstGeom prst="rect">
            <a:avLst/>
          </a:prstGeom>
          <a:noFill/>
          <a:ln/>
        </p:spPr>
        <p:txBody>
          <a:bodyPr wrap="square" lIns="0" tIns="0" rIns="0" bIns="0" rtlCol="0" anchor="t"/>
          <a:lstStyle/>
          <a:p>
            <a:pPr marL="0" indent="0">
              <a:buNone/>
            </a:pPr>
            <a:r>
              <a:rPr lang="en-US" sz="2000" b="1" dirty="0">
                <a:solidFill>
                  <a:schemeClr val="tx1"/>
                </a:solidFill>
              </a:rPr>
              <a:t>El Delta Log</a:t>
            </a:r>
            <a:endParaRPr lang="en-US" sz="2000" dirty="0"/>
          </a:p>
        </p:txBody>
      </p:sp>
      <p:sp>
        <p:nvSpPr>
          <p:cNvPr id="11" name="Agenda detalle 2"/>
          <p:cNvSpPr txBox="1"/>
          <p:nvPr/>
        </p:nvSpPr>
        <p:spPr>
          <a:xfrm>
            <a:off x="1463040" y="2743200"/>
            <a:ext cx="6400800" cy="320040"/>
          </a:xfrm>
          <a:prstGeom prst="rect">
            <a:avLst/>
          </a:prstGeom>
          <a:noFill/>
          <a:ln/>
        </p:spPr>
        <p:txBody>
          <a:bodyPr wrap="square" lIns="0" tIns="0" rIns="0" bIns="0" rtlCol="0" anchor="t"/>
          <a:lstStyle/>
          <a:p>
            <a:pPr marL="0" indent="0">
              <a:buNone/>
            </a:pPr>
            <a:r>
              <a:rPr lang="en-US" sz="1500" dirty="0">
                <a:solidFill>
                  <a:schemeClr val="accent4"/>
                </a:solidFill>
              </a:rPr>
              <a:t>Qué hay dentro de una tabla Delta</a:t>
            </a:r>
            <a:endParaRPr lang="en-US" sz="1500" dirty="0"/>
          </a:p>
        </p:txBody>
      </p:sp>
      <p:sp>
        <p:nvSpPr>
          <p:cNvPr id="12" name="Agenda tiempo 2"/>
          <p:cNvSpPr txBox="1"/>
          <p:nvPr/>
        </p:nvSpPr>
        <p:spPr>
          <a:xfrm>
            <a:off x="9326880" y="2514600"/>
            <a:ext cx="2286000" cy="365760"/>
          </a:xfrm>
          <a:prstGeom prst="rect">
            <a:avLst/>
          </a:prstGeom>
          <a:noFill/>
          <a:ln/>
        </p:spPr>
        <p:txBody>
          <a:bodyPr wrap="square" lIns="0" tIns="0" rIns="0" bIns="0" rtlCol="0" anchor="t"/>
          <a:lstStyle/>
          <a:p>
            <a:pPr marL="0" indent="0" algn="r">
              <a:buNone/>
            </a:pPr>
            <a:r>
              <a:rPr lang="en-US" sz="1600" dirty="0">
                <a:solidFill>
                  <a:schemeClr val="accent4"/>
                </a:solidFill>
              </a:rPr>
              <a:t>8 min</a:t>
            </a:r>
            <a:endParaRPr lang="en-US" sz="1600" dirty="0"/>
          </a:p>
        </p:txBody>
      </p:sp>
      <p:sp>
        <p:nvSpPr>
          <p:cNvPr id="13" name="Agenda 3 círculo"/>
          <p:cNvSpPr/>
          <p:nvPr/>
        </p:nvSpPr>
        <p:spPr>
          <a:xfrm>
            <a:off x="548640" y="3291840"/>
            <a:ext cx="640080" cy="640080"/>
          </a:xfrm>
          <a:prstGeom prst="ellipse">
            <a:avLst/>
          </a:prstGeom>
          <a:solidFill>
            <a:schemeClr val="tx2"/>
          </a:solidFill>
          <a:ln w="12700">
            <a:solidFill>
              <a:schemeClr val="tx2"/>
            </a:solidFill>
            <a:prstDash val="solid"/>
          </a:ln>
        </p:spPr>
      </p:sp>
      <p:pic>
        <p:nvPicPr>
          <p:cNvPr id="14" name="Agenda 3 ícono" descr="preencoded.png"/>
          <p:cNvPicPr>
            <a:picLocks noChangeAspect="1"/>
          </p:cNvPicPr>
          <p:nvPr/>
        </p:nvPicPr>
        <p:blipFill>
          <a:blip r:embed="rId5"/>
          <a:stretch>
            <a:fillRect/>
          </a:stretch>
        </p:blipFill>
        <p:spPr>
          <a:xfrm>
            <a:off x="715061" y="3458261"/>
            <a:ext cx="307238" cy="307238"/>
          </a:xfrm>
          <a:prstGeom prst="rect">
            <a:avLst/>
          </a:prstGeom>
        </p:spPr>
      </p:pic>
      <p:sp>
        <p:nvSpPr>
          <p:cNvPr id="15" name="Agenda título 3"/>
          <p:cNvSpPr txBox="1"/>
          <p:nvPr/>
        </p:nvSpPr>
        <p:spPr>
          <a:xfrm>
            <a:off x="1463040" y="3310128"/>
            <a:ext cx="6400800" cy="365760"/>
          </a:xfrm>
          <a:prstGeom prst="rect">
            <a:avLst/>
          </a:prstGeom>
          <a:noFill/>
          <a:ln/>
        </p:spPr>
        <p:txBody>
          <a:bodyPr wrap="square" lIns="0" tIns="0" rIns="0" bIns="0" rtlCol="0" anchor="t"/>
          <a:lstStyle/>
          <a:p>
            <a:pPr marL="0" indent="0">
              <a:buNone/>
            </a:pPr>
            <a:r>
              <a:rPr lang="en-US" sz="2000" b="1" dirty="0">
                <a:solidFill>
                  <a:schemeClr val="tx1"/>
                </a:solidFill>
              </a:rPr>
              <a:t>Time travel y RESTORE</a:t>
            </a:r>
            <a:endParaRPr lang="en-US" sz="2000" dirty="0"/>
          </a:p>
        </p:txBody>
      </p:sp>
      <p:sp>
        <p:nvSpPr>
          <p:cNvPr id="16" name="Agenda detalle 3"/>
          <p:cNvSpPr txBox="1"/>
          <p:nvPr/>
        </p:nvSpPr>
        <p:spPr>
          <a:xfrm>
            <a:off x="1463040" y="3657600"/>
            <a:ext cx="6400800" cy="320040"/>
          </a:xfrm>
          <a:prstGeom prst="rect">
            <a:avLst/>
          </a:prstGeom>
          <a:noFill/>
          <a:ln/>
        </p:spPr>
        <p:txBody>
          <a:bodyPr wrap="square" lIns="0" tIns="0" rIns="0" bIns="0" rtlCol="0" anchor="t"/>
          <a:lstStyle/>
          <a:p>
            <a:pPr marL="0" indent="0">
              <a:buNone/>
            </a:pPr>
            <a:r>
              <a:rPr lang="en-US" sz="1500" dirty="0">
                <a:solidFill>
                  <a:schemeClr val="accent4"/>
                </a:solidFill>
              </a:rPr>
              <a:t>Consultar y recuperar versiones</a:t>
            </a:r>
            <a:endParaRPr lang="en-US" sz="1500" dirty="0"/>
          </a:p>
        </p:txBody>
      </p:sp>
      <p:sp>
        <p:nvSpPr>
          <p:cNvPr id="17" name="Agenda tiempo 3"/>
          <p:cNvSpPr txBox="1"/>
          <p:nvPr/>
        </p:nvSpPr>
        <p:spPr>
          <a:xfrm>
            <a:off x="9326880" y="3429000"/>
            <a:ext cx="2286000" cy="365760"/>
          </a:xfrm>
          <a:prstGeom prst="rect">
            <a:avLst/>
          </a:prstGeom>
          <a:noFill/>
          <a:ln/>
        </p:spPr>
        <p:txBody>
          <a:bodyPr wrap="square" lIns="0" tIns="0" rIns="0" bIns="0" rtlCol="0" anchor="t"/>
          <a:lstStyle/>
          <a:p>
            <a:pPr marL="0" indent="0" algn="r">
              <a:buNone/>
            </a:pPr>
            <a:r>
              <a:rPr lang="en-US" sz="1600" dirty="0">
                <a:solidFill>
                  <a:schemeClr val="accent4"/>
                </a:solidFill>
              </a:rPr>
              <a:t>10 min</a:t>
            </a:r>
            <a:endParaRPr lang="en-US" sz="1600" dirty="0"/>
          </a:p>
        </p:txBody>
      </p:sp>
      <p:sp>
        <p:nvSpPr>
          <p:cNvPr id="18" name="Agenda 4 círculo"/>
          <p:cNvSpPr/>
          <p:nvPr/>
        </p:nvSpPr>
        <p:spPr>
          <a:xfrm>
            <a:off x="548640" y="4206240"/>
            <a:ext cx="640080" cy="640080"/>
          </a:xfrm>
          <a:prstGeom prst="ellipse">
            <a:avLst/>
          </a:prstGeom>
          <a:solidFill>
            <a:schemeClr val="tx2"/>
          </a:solidFill>
          <a:ln w="12700">
            <a:solidFill>
              <a:schemeClr val="tx2"/>
            </a:solidFill>
            <a:prstDash val="solid"/>
          </a:ln>
        </p:spPr>
      </p:sp>
      <p:pic>
        <p:nvPicPr>
          <p:cNvPr id="19" name="Agenda 4 ícono" descr="preencoded.png"/>
          <p:cNvPicPr>
            <a:picLocks noChangeAspect="1"/>
          </p:cNvPicPr>
          <p:nvPr/>
        </p:nvPicPr>
        <p:blipFill>
          <a:blip r:embed="rId6"/>
          <a:stretch>
            <a:fillRect/>
          </a:stretch>
        </p:blipFill>
        <p:spPr>
          <a:xfrm>
            <a:off x="715061" y="4372661"/>
            <a:ext cx="307238" cy="307238"/>
          </a:xfrm>
          <a:prstGeom prst="rect">
            <a:avLst/>
          </a:prstGeom>
        </p:spPr>
      </p:pic>
      <p:sp>
        <p:nvSpPr>
          <p:cNvPr id="20" name="Agenda título 4"/>
          <p:cNvSpPr txBox="1"/>
          <p:nvPr/>
        </p:nvSpPr>
        <p:spPr>
          <a:xfrm>
            <a:off x="1463040" y="4224528"/>
            <a:ext cx="6400800" cy="365760"/>
          </a:xfrm>
          <a:prstGeom prst="rect">
            <a:avLst/>
          </a:prstGeom>
          <a:noFill/>
          <a:ln/>
        </p:spPr>
        <p:txBody>
          <a:bodyPr wrap="square" lIns="0" tIns="0" rIns="0" bIns="0" rtlCol="0" anchor="t"/>
          <a:lstStyle/>
          <a:p>
            <a:pPr marL="0" indent="0">
              <a:buNone/>
            </a:pPr>
            <a:r>
              <a:rPr lang="en-US" sz="2000" b="1" dirty="0">
                <a:solidFill>
                  <a:schemeClr val="tx1"/>
                </a:solidFill>
              </a:rPr>
              <a:t>Change Data Feed</a:t>
            </a:r>
            <a:endParaRPr lang="en-US" sz="2000" dirty="0"/>
          </a:p>
        </p:txBody>
      </p:sp>
      <p:sp>
        <p:nvSpPr>
          <p:cNvPr id="21" name="Agenda detalle 4"/>
          <p:cNvSpPr txBox="1"/>
          <p:nvPr/>
        </p:nvSpPr>
        <p:spPr>
          <a:xfrm>
            <a:off x="1463040" y="4572000"/>
            <a:ext cx="6400800" cy="320040"/>
          </a:xfrm>
          <a:prstGeom prst="rect">
            <a:avLst/>
          </a:prstGeom>
          <a:noFill/>
          <a:ln/>
        </p:spPr>
        <p:txBody>
          <a:bodyPr wrap="square" lIns="0" tIns="0" rIns="0" bIns="0" rtlCol="0" anchor="t"/>
          <a:lstStyle/>
          <a:p>
            <a:pPr marL="0" indent="0">
              <a:buNone/>
            </a:pPr>
            <a:r>
              <a:rPr lang="en-US" sz="1500" dirty="0">
                <a:solidFill>
                  <a:schemeClr val="accent4"/>
                </a:solidFill>
              </a:rPr>
              <a:t>Leer cambios con table_changes()</a:t>
            </a:r>
            <a:endParaRPr lang="en-US" sz="1500" dirty="0"/>
          </a:p>
        </p:txBody>
      </p:sp>
      <p:sp>
        <p:nvSpPr>
          <p:cNvPr id="22" name="Agenda tiempo 4"/>
          <p:cNvSpPr txBox="1"/>
          <p:nvPr/>
        </p:nvSpPr>
        <p:spPr>
          <a:xfrm>
            <a:off x="9326880" y="4343400"/>
            <a:ext cx="2286000" cy="365760"/>
          </a:xfrm>
          <a:prstGeom prst="rect">
            <a:avLst/>
          </a:prstGeom>
          <a:noFill/>
          <a:ln/>
        </p:spPr>
        <p:txBody>
          <a:bodyPr wrap="square" lIns="0" tIns="0" rIns="0" bIns="0" rtlCol="0" anchor="t"/>
          <a:lstStyle/>
          <a:p>
            <a:pPr marL="0" indent="0" algn="r">
              <a:buNone/>
            </a:pPr>
            <a:r>
              <a:rPr lang="en-US" sz="1600" dirty="0">
                <a:solidFill>
                  <a:schemeClr val="accent4"/>
                </a:solidFill>
              </a:rPr>
              <a:t>8 min</a:t>
            </a:r>
            <a:endParaRPr lang="en-US" sz="1600" dirty="0"/>
          </a:p>
        </p:txBody>
      </p:sp>
      <p:sp>
        <p:nvSpPr>
          <p:cNvPr id="23" name="Agenda 5 círculo"/>
          <p:cNvSpPr/>
          <p:nvPr/>
        </p:nvSpPr>
        <p:spPr>
          <a:xfrm>
            <a:off x="548640" y="5120640"/>
            <a:ext cx="640080" cy="640080"/>
          </a:xfrm>
          <a:prstGeom prst="ellipse">
            <a:avLst/>
          </a:prstGeom>
          <a:solidFill>
            <a:schemeClr val="tx2"/>
          </a:solidFill>
          <a:ln w="12700">
            <a:solidFill>
              <a:schemeClr val="tx2"/>
            </a:solidFill>
            <a:prstDash val="solid"/>
          </a:ln>
        </p:spPr>
      </p:sp>
      <p:pic>
        <p:nvPicPr>
          <p:cNvPr id="24" name="Agenda 5 ícono" descr="preencoded.png"/>
          <p:cNvPicPr>
            <a:picLocks noChangeAspect="1"/>
          </p:cNvPicPr>
          <p:nvPr/>
        </p:nvPicPr>
        <p:blipFill>
          <a:blip r:embed="rId7"/>
          <a:stretch>
            <a:fillRect/>
          </a:stretch>
        </p:blipFill>
        <p:spPr>
          <a:xfrm>
            <a:off x="715061" y="5287061"/>
            <a:ext cx="307238" cy="307238"/>
          </a:xfrm>
          <a:prstGeom prst="rect">
            <a:avLst/>
          </a:prstGeom>
        </p:spPr>
      </p:pic>
      <p:sp>
        <p:nvSpPr>
          <p:cNvPr id="25" name="Agenda título 5"/>
          <p:cNvSpPr txBox="1"/>
          <p:nvPr/>
        </p:nvSpPr>
        <p:spPr>
          <a:xfrm>
            <a:off x="1463040" y="5138928"/>
            <a:ext cx="6400800" cy="365760"/>
          </a:xfrm>
          <a:prstGeom prst="rect">
            <a:avLst/>
          </a:prstGeom>
          <a:noFill/>
          <a:ln/>
        </p:spPr>
        <p:txBody>
          <a:bodyPr wrap="square" lIns="0" tIns="0" rIns="0" bIns="0" rtlCol="0" anchor="t"/>
          <a:lstStyle/>
          <a:p>
            <a:pPr marL="0" indent="0">
              <a:buNone/>
            </a:pPr>
            <a:r>
              <a:rPr lang="en-US" sz="2000" b="1" dirty="0">
                <a:solidFill>
                  <a:schemeClr val="tx1"/>
                </a:solidFill>
              </a:rPr>
              <a:t>Schema enforcement y evolution</a:t>
            </a:r>
            <a:endParaRPr lang="en-US" sz="2000" dirty="0"/>
          </a:p>
        </p:txBody>
      </p:sp>
      <p:sp>
        <p:nvSpPr>
          <p:cNvPr id="26" name="Agenda detalle 5"/>
          <p:cNvSpPr txBox="1"/>
          <p:nvPr/>
        </p:nvSpPr>
        <p:spPr>
          <a:xfrm>
            <a:off x="1463040" y="5486400"/>
            <a:ext cx="6400800" cy="320040"/>
          </a:xfrm>
          <a:prstGeom prst="rect">
            <a:avLst/>
          </a:prstGeom>
          <a:noFill/>
          <a:ln/>
        </p:spPr>
        <p:txBody>
          <a:bodyPr wrap="square" lIns="0" tIns="0" rIns="0" bIns="0" rtlCol="0" anchor="t"/>
          <a:lstStyle/>
          <a:p>
            <a:pPr marL="0" indent="0">
              <a:buNone/>
            </a:pPr>
            <a:r>
              <a:rPr lang="en-US" sz="1500" dirty="0">
                <a:solidFill>
                  <a:schemeClr val="accent4"/>
                </a:solidFill>
              </a:rPr>
              <a:t>Qué entra y qué no en una tabla</a:t>
            </a:r>
            <a:endParaRPr lang="en-US" sz="1500" dirty="0"/>
          </a:p>
        </p:txBody>
      </p:sp>
      <p:sp>
        <p:nvSpPr>
          <p:cNvPr id="27" name="Agenda tiempo 5"/>
          <p:cNvSpPr txBox="1"/>
          <p:nvPr/>
        </p:nvSpPr>
        <p:spPr>
          <a:xfrm>
            <a:off x="9326880" y="5257800"/>
            <a:ext cx="2286000" cy="365760"/>
          </a:xfrm>
          <a:prstGeom prst="rect">
            <a:avLst/>
          </a:prstGeom>
          <a:noFill/>
          <a:ln/>
        </p:spPr>
        <p:txBody>
          <a:bodyPr wrap="square" lIns="0" tIns="0" rIns="0" bIns="0" rtlCol="0" anchor="t"/>
          <a:lstStyle/>
          <a:p>
            <a:pPr marL="0" indent="0" algn="r">
              <a:buNone/>
            </a:pPr>
            <a:r>
              <a:rPr lang="en-US" sz="1600" dirty="0">
                <a:solidFill>
                  <a:schemeClr val="accent4"/>
                </a:solidFill>
              </a:rPr>
              <a:t>8 min</a:t>
            </a:r>
            <a:endParaRPr lang="en-US" sz="1600" dirty="0"/>
          </a:p>
        </p:txBody>
      </p:sp>
      <p:sp>
        <p:nvSpPr>
          <p:cNvPr id="28"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úmero sección"/>
          <p:cNvSpPr txBox="1"/>
          <p:nvPr/>
        </p:nvSpPr>
        <p:spPr>
          <a:xfrm>
            <a:off x="548640" y="1737360"/>
            <a:ext cx="2743200" cy="914400"/>
          </a:xfrm>
          <a:prstGeom prst="rect">
            <a:avLst/>
          </a:prstGeom>
          <a:noFill/>
          <a:ln/>
        </p:spPr>
        <p:txBody>
          <a:bodyPr wrap="square" lIns="0" tIns="0" rIns="0" bIns="0" rtlCol="0" anchor="t"/>
          <a:lstStyle/>
          <a:p>
            <a:pPr marL="0" indent="0">
              <a:buNone/>
            </a:pPr>
            <a:r>
              <a:rPr lang="en-US" sz="6000" b="1" dirty="0">
                <a:solidFill>
                  <a:schemeClr val="accent2"/>
                </a:solidFill>
              </a:rPr>
              <a:t>01</a:t>
            </a:r>
            <a:endParaRPr lang="en-US" sz="6000" dirty="0"/>
          </a:p>
        </p:txBody>
      </p:sp>
      <p:sp>
        <p:nvSpPr>
          <p:cNvPr id="3" name="Text 0"/>
          <p:cNvSpPr>
            <a:spLocks noGrp="1"/>
          </p:cNvSpPr>
          <p:nvPr>
            <p:ph type="title" idx="100" hasCustomPrompt="1"/>
          </p:nvPr>
        </p:nvSpPr>
        <p:spPr>
          <a:xfrm>
            <a:off x="548640" y="2834640"/>
            <a:ext cx="10058400" cy="914400"/>
          </a:xfrm>
          <a:prstGeom prst="rect">
            <a:avLst/>
          </a:prstGeom>
          <a:noFill/>
          <a:ln/>
        </p:spPr>
        <p:txBody>
          <a:bodyPr wrap="square" lIns="0" tIns="0" rIns="0" bIns="0" rtlCol="0"/>
          <a:lstStyle/>
          <a:p>
            <a:pPr marL="0" indent="0" algn="l">
              <a:buNone/>
            </a:pPr>
            <a:r>
              <a:rPr lang="en-US" sz="4000" b="1" dirty="0">
                <a:solidFill>
                  <a:schemeClr val="bg1"/>
                </a:solidFill>
              </a:rPr>
              <a:t>Recorrido por el workspace</a:t>
            </a:r>
            <a:endParaRPr lang="en-US" sz="4000" dirty="0"/>
          </a:p>
        </p:txBody>
      </p:sp>
      <p:sp>
        <p:nvSpPr>
          <p:cNvPr id="4" name="Text 0"/>
          <p:cNvSpPr>
            <a:spLocks noGrp="1"/>
          </p:cNvSpPr>
          <p:nvPr>
            <p:ph type="body" idx="101" hasCustomPrompt="1"/>
          </p:nvPr>
        </p:nvSpPr>
        <p:spPr>
          <a:xfrm>
            <a:off x="548640" y="3840480"/>
            <a:ext cx="10058400" cy="731520"/>
          </a:xfrm>
          <a:prstGeom prst="rect">
            <a:avLst/>
          </a:prstGeom>
          <a:noFill/>
          <a:ln/>
        </p:spPr>
        <p:txBody>
          <a:bodyPr wrap="square" lIns="0" tIns="0" rIns="0" bIns="0" rtlCol="0"/>
          <a:lstStyle/>
          <a:p>
            <a:pPr marL="0" indent="0">
              <a:buNone/>
            </a:pPr>
            <a:r>
              <a:rPr lang="en-US" sz="1800" dirty="0">
                <a:solidFill>
                  <a:schemeClr val="bg2"/>
                </a:solidFill>
              </a:rPr>
              <a:t>Dónde está cada cosa antes de escribir la primera consulta</a:t>
            </a:r>
            <a:endParaRPr lang="en-US" sz="1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Cinco secciones del menú lateral cubren todo el curso</a:t>
            </a:r>
            <a:endParaRPr lang="en-US" sz="3000" dirty="0"/>
          </a:p>
        </p:txBody>
      </p:sp>
      <p:sp>
        <p:nvSpPr>
          <p:cNvPr id="3" name="Tarjeta Workspace"/>
          <p:cNvSpPr/>
          <p:nvPr/>
        </p:nvSpPr>
        <p:spPr>
          <a:xfrm>
            <a:off x="548640" y="1554480"/>
            <a:ext cx="3474720" cy="1965960"/>
          </a:xfrm>
          <a:prstGeom prst="roundRect">
            <a:avLst>
              <a:gd name="adj" fmla="val 5581"/>
            </a:avLst>
          </a:prstGeom>
          <a:solidFill>
            <a:schemeClr val="bg2"/>
          </a:solidFill>
          <a:ln w="12700">
            <a:solidFill>
              <a:schemeClr val="bg2"/>
            </a:solidFill>
            <a:prstDash val="solid"/>
          </a:ln>
        </p:spPr>
      </p:sp>
      <p:sp>
        <p:nvSpPr>
          <p:cNvPr id="4" name="Workspace círculo"/>
          <p:cNvSpPr/>
          <p:nvPr/>
        </p:nvSpPr>
        <p:spPr>
          <a:xfrm>
            <a:off x="822960" y="1828800"/>
            <a:ext cx="640080" cy="640080"/>
          </a:xfrm>
          <a:prstGeom prst="ellipse">
            <a:avLst/>
          </a:prstGeom>
          <a:solidFill>
            <a:schemeClr val="tx2"/>
          </a:solidFill>
          <a:ln w="12700">
            <a:solidFill>
              <a:schemeClr val="tx2"/>
            </a:solidFill>
            <a:prstDash val="solid"/>
          </a:ln>
        </p:spPr>
      </p:sp>
      <p:pic>
        <p:nvPicPr>
          <p:cNvPr id="5" name="Workspace ícono" descr="preencoded.png"/>
          <p:cNvPicPr>
            <a:picLocks noChangeAspect="1"/>
          </p:cNvPicPr>
          <p:nvPr/>
        </p:nvPicPr>
        <p:blipFill>
          <a:blip r:embed="rId3"/>
          <a:stretch>
            <a:fillRect/>
          </a:stretch>
        </p:blipFill>
        <p:spPr>
          <a:xfrm>
            <a:off x="989381" y="1995221"/>
            <a:ext cx="307238" cy="307238"/>
          </a:xfrm>
          <a:prstGeom prst="rect">
            <a:avLst/>
          </a:prstGeom>
        </p:spPr>
      </p:pic>
      <p:sp>
        <p:nvSpPr>
          <p:cNvPr id="6" name="Workspace título"/>
          <p:cNvSpPr txBox="1"/>
          <p:nvPr/>
        </p:nvSpPr>
        <p:spPr>
          <a:xfrm>
            <a:off x="822960" y="2560320"/>
            <a:ext cx="2926080" cy="365760"/>
          </a:xfrm>
          <a:prstGeom prst="rect">
            <a:avLst/>
          </a:prstGeom>
          <a:noFill/>
          <a:ln/>
        </p:spPr>
        <p:txBody>
          <a:bodyPr wrap="square" lIns="0" tIns="0" rIns="0" bIns="0" rtlCol="0" anchor="t"/>
          <a:lstStyle/>
          <a:p>
            <a:pPr marL="0" indent="0">
              <a:buNone/>
            </a:pPr>
            <a:r>
              <a:rPr lang="en-US" sz="1800" b="1" dirty="0">
                <a:solidFill>
                  <a:schemeClr val="tx1"/>
                </a:solidFill>
              </a:rPr>
              <a:t>Workspace</a:t>
            </a:r>
            <a:endParaRPr lang="en-US" sz="1800" dirty="0"/>
          </a:p>
        </p:txBody>
      </p:sp>
      <p:sp>
        <p:nvSpPr>
          <p:cNvPr id="7" name="Workspace texto"/>
          <p:cNvSpPr txBox="1"/>
          <p:nvPr/>
        </p:nvSpPr>
        <p:spPr>
          <a:xfrm>
            <a:off x="822960" y="2926080"/>
            <a:ext cx="2926080" cy="548640"/>
          </a:xfrm>
          <a:prstGeom prst="rect">
            <a:avLst/>
          </a:prstGeom>
          <a:noFill/>
          <a:ln/>
        </p:spPr>
        <p:txBody>
          <a:bodyPr wrap="square" lIns="0" tIns="0" rIns="0" bIns="0" rtlCol="0" anchor="t"/>
          <a:lstStyle/>
          <a:p>
            <a:pPr marL="0" indent="0">
              <a:buNone/>
            </a:pPr>
            <a:r>
              <a:rPr lang="en-US" sz="1400" dirty="0">
                <a:solidFill>
                  <a:schemeClr val="accent4"/>
                </a:solidFill>
              </a:rPr>
              <a:t>Carpetas, notebooks y repositorios conectados con Git Folders</a:t>
            </a:r>
            <a:endParaRPr lang="en-US" sz="1400" dirty="0"/>
          </a:p>
        </p:txBody>
      </p:sp>
      <p:sp>
        <p:nvSpPr>
          <p:cNvPr id="8" name="Tarjeta Catalog"/>
          <p:cNvSpPr/>
          <p:nvPr/>
        </p:nvSpPr>
        <p:spPr>
          <a:xfrm>
            <a:off x="4297680" y="1554480"/>
            <a:ext cx="3474720" cy="1965960"/>
          </a:xfrm>
          <a:prstGeom prst="roundRect">
            <a:avLst>
              <a:gd name="adj" fmla="val 5581"/>
            </a:avLst>
          </a:prstGeom>
          <a:solidFill>
            <a:schemeClr val="bg2"/>
          </a:solidFill>
          <a:ln w="12700">
            <a:solidFill>
              <a:schemeClr val="bg2"/>
            </a:solidFill>
            <a:prstDash val="solid"/>
          </a:ln>
        </p:spPr>
      </p:sp>
      <p:sp>
        <p:nvSpPr>
          <p:cNvPr id="9" name="Catalog círculo"/>
          <p:cNvSpPr/>
          <p:nvPr/>
        </p:nvSpPr>
        <p:spPr>
          <a:xfrm>
            <a:off x="4572000" y="1828800"/>
            <a:ext cx="640080" cy="640080"/>
          </a:xfrm>
          <a:prstGeom prst="ellipse">
            <a:avLst/>
          </a:prstGeom>
          <a:solidFill>
            <a:schemeClr val="tx2"/>
          </a:solidFill>
          <a:ln w="12700">
            <a:solidFill>
              <a:schemeClr val="tx2"/>
            </a:solidFill>
            <a:prstDash val="solid"/>
          </a:ln>
        </p:spPr>
      </p:sp>
      <p:pic>
        <p:nvPicPr>
          <p:cNvPr id="10" name="Catalog ícono" descr="preencoded.png"/>
          <p:cNvPicPr>
            <a:picLocks noChangeAspect="1"/>
          </p:cNvPicPr>
          <p:nvPr/>
        </p:nvPicPr>
        <p:blipFill>
          <a:blip r:embed="rId4"/>
          <a:stretch>
            <a:fillRect/>
          </a:stretch>
        </p:blipFill>
        <p:spPr>
          <a:xfrm>
            <a:off x="4738421" y="1995221"/>
            <a:ext cx="307238" cy="307238"/>
          </a:xfrm>
          <a:prstGeom prst="rect">
            <a:avLst/>
          </a:prstGeom>
        </p:spPr>
      </p:pic>
      <p:sp>
        <p:nvSpPr>
          <p:cNvPr id="11" name="Catalog título"/>
          <p:cNvSpPr txBox="1"/>
          <p:nvPr/>
        </p:nvSpPr>
        <p:spPr>
          <a:xfrm>
            <a:off x="4572000" y="2560320"/>
            <a:ext cx="2926080" cy="365760"/>
          </a:xfrm>
          <a:prstGeom prst="rect">
            <a:avLst/>
          </a:prstGeom>
          <a:noFill/>
          <a:ln/>
        </p:spPr>
        <p:txBody>
          <a:bodyPr wrap="square" lIns="0" tIns="0" rIns="0" bIns="0" rtlCol="0" anchor="t"/>
          <a:lstStyle/>
          <a:p>
            <a:pPr marL="0" indent="0">
              <a:buNone/>
            </a:pPr>
            <a:r>
              <a:rPr lang="en-US" sz="1800" b="1" dirty="0">
                <a:solidFill>
                  <a:schemeClr val="tx1"/>
                </a:solidFill>
              </a:rPr>
              <a:t>Catalog</a:t>
            </a:r>
            <a:endParaRPr lang="en-US" sz="1800" dirty="0"/>
          </a:p>
        </p:txBody>
      </p:sp>
      <p:sp>
        <p:nvSpPr>
          <p:cNvPr id="12" name="Catalog texto"/>
          <p:cNvSpPr txBox="1"/>
          <p:nvPr/>
        </p:nvSpPr>
        <p:spPr>
          <a:xfrm>
            <a:off x="4572000" y="2926080"/>
            <a:ext cx="2926080" cy="548640"/>
          </a:xfrm>
          <a:prstGeom prst="rect">
            <a:avLst/>
          </a:prstGeom>
          <a:noFill/>
          <a:ln/>
        </p:spPr>
        <p:txBody>
          <a:bodyPr wrap="square" lIns="0" tIns="0" rIns="0" bIns="0" rtlCol="0" anchor="t"/>
          <a:lstStyle/>
          <a:p>
            <a:pPr marL="0" indent="0">
              <a:buNone/>
            </a:pPr>
            <a:r>
              <a:rPr lang="en-US" sz="1400" dirty="0">
                <a:solidFill>
                  <a:schemeClr val="accent4"/>
                </a:solidFill>
              </a:rPr>
              <a:t>Catalog Explorer: catálogos, schemas, tablas, volumes y permisos</a:t>
            </a:r>
            <a:endParaRPr lang="en-US" sz="1400" dirty="0"/>
          </a:p>
        </p:txBody>
      </p:sp>
      <p:sp>
        <p:nvSpPr>
          <p:cNvPr id="13" name="Tarjeta SQL Editor"/>
          <p:cNvSpPr/>
          <p:nvPr/>
        </p:nvSpPr>
        <p:spPr>
          <a:xfrm>
            <a:off x="8046720" y="1554480"/>
            <a:ext cx="3474720" cy="1965960"/>
          </a:xfrm>
          <a:prstGeom prst="roundRect">
            <a:avLst>
              <a:gd name="adj" fmla="val 5581"/>
            </a:avLst>
          </a:prstGeom>
          <a:solidFill>
            <a:schemeClr val="bg2"/>
          </a:solidFill>
          <a:ln w="12700">
            <a:solidFill>
              <a:schemeClr val="bg2"/>
            </a:solidFill>
            <a:prstDash val="solid"/>
          </a:ln>
        </p:spPr>
      </p:sp>
      <p:sp>
        <p:nvSpPr>
          <p:cNvPr id="14" name="SQL Editor círculo"/>
          <p:cNvSpPr/>
          <p:nvPr/>
        </p:nvSpPr>
        <p:spPr>
          <a:xfrm>
            <a:off x="8321040" y="1828800"/>
            <a:ext cx="640080" cy="640080"/>
          </a:xfrm>
          <a:prstGeom prst="ellipse">
            <a:avLst/>
          </a:prstGeom>
          <a:solidFill>
            <a:schemeClr val="tx2"/>
          </a:solidFill>
          <a:ln w="12700">
            <a:solidFill>
              <a:schemeClr val="tx2"/>
            </a:solidFill>
            <a:prstDash val="solid"/>
          </a:ln>
        </p:spPr>
      </p:sp>
      <p:pic>
        <p:nvPicPr>
          <p:cNvPr id="15" name="SQL Editor ícono" descr="preencoded.png"/>
          <p:cNvPicPr>
            <a:picLocks noChangeAspect="1"/>
          </p:cNvPicPr>
          <p:nvPr/>
        </p:nvPicPr>
        <p:blipFill>
          <a:blip r:embed="rId5"/>
          <a:stretch>
            <a:fillRect/>
          </a:stretch>
        </p:blipFill>
        <p:spPr>
          <a:xfrm>
            <a:off x="8487461" y="1995221"/>
            <a:ext cx="307238" cy="307238"/>
          </a:xfrm>
          <a:prstGeom prst="rect">
            <a:avLst/>
          </a:prstGeom>
        </p:spPr>
      </p:pic>
      <p:sp>
        <p:nvSpPr>
          <p:cNvPr id="16" name="SQL Editor título"/>
          <p:cNvSpPr txBox="1"/>
          <p:nvPr/>
        </p:nvSpPr>
        <p:spPr>
          <a:xfrm>
            <a:off x="8321040" y="2560320"/>
            <a:ext cx="2926080" cy="365760"/>
          </a:xfrm>
          <a:prstGeom prst="rect">
            <a:avLst/>
          </a:prstGeom>
          <a:noFill/>
          <a:ln/>
        </p:spPr>
        <p:txBody>
          <a:bodyPr wrap="square" lIns="0" tIns="0" rIns="0" bIns="0" rtlCol="0" anchor="t"/>
          <a:lstStyle/>
          <a:p>
            <a:pPr marL="0" indent="0">
              <a:buNone/>
            </a:pPr>
            <a:r>
              <a:rPr lang="en-US" sz="1800" b="1" dirty="0">
                <a:solidFill>
                  <a:schemeClr val="tx1"/>
                </a:solidFill>
              </a:rPr>
              <a:t>SQL Editor</a:t>
            </a:r>
            <a:endParaRPr lang="en-US" sz="1800" dirty="0"/>
          </a:p>
        </p:txBody>
      </p:sp>
      <p:sp>
        <p:nvSpPr>
          <p:cNvPr id="17" name="SQL Editor texto"/>
          <p:cNvSpPr txBox="1"/>
          <p:nvPr/>
        </p:nvSpPr>
        <p:spPr>
          <a:xfrm>
            <a:off x="8321040" y="2926080"/>
            <a:ext cx="2926080" cy="548640"/>
          </a:xfrm>
          <a:prstGeom prst="rect">
            <a:avLst/>
          </a:prstGeom>
          <a:noFill/>
          <a:ln/>
        </p:spPr>
        <p:txBody>
          <a:bodyPr wrap="square" lIns="0" tIns="0" rIns="0" bIns="0" rtlCol="0" anchor="t"/>
          <a:lstStyle/>
          <a:p>
            <a:pPr marL="0" indent="0">
              <a:buNone/>
            </a:pPr>
            <a:r>
              <a:rPr lang="en-US" sz="1400" dirty="0">
                <a:solidFill>
                  <a:schemeClr val="accent4"/>
                </a:solidFill>
              </a:rPr>
              <a:t>Escribir consultas SQL sin abrir un notebook</a:t>
            </a:r>
            <a:endParaRPr lang="en-US" sz="1400" dirty="0"/>
          </a:p>
        </p:txBody>
      </p:sp>
      <p:sp>
        <p:nvSpPr>
          <p:cNvPr id="18" name="Tarjeta Jobs &amp; Pipelines"/>
          <p:cNvSpPr/>
          <p:nvPr/>
        </p:nvSpPr>
        <p:spPr>
          <a:xfrm>
            <a:off x="548640" y="3794760"/>
            <a:ext cx="3474720" cy="1965960"/>
          </a:xfrm>
          <a:prstGeom prst="roundRect">
            <a:avLst>
              <a:gd name="adj" fmla="val 5581"/>
            </a:avLst>
          </a:prstGeom>
          <a:solidFill>
            <a:schemeClr val="bg2"/>
          </a:solidFill>
          <a:ln w="12700">
            <a:solidFill>
              <a:schemeClr val="bg2"/>
            </a:solidFill>
            <a:prstDash val="solid"/>
          </a:ln>
        </p:spPr>
      </p:sp>
      <p:sp>
        <p:nvSpPr>
          <p:cNvPr id="19" name="Jobs &amp; Pipelines círculo"/>
          <p:cNvSpPr/>
          <p:nvPr/>
        </p:nvSpPr>
        <p:spPr>
          <a:xfrm>
            <a:off x="822960" y="4069080"/>
            <a:ext cx="640080" cy="640080"/>
          </a:xfrm>
          <a:prstGeom prst="ellipse">
            <a:avLst/>
          </a:prstGeom>
          <a:solidFill>
            <a:schemeClr val="tx2"/>
          </a:solidFill>
          <a:ln w="12700">
            <a:solidFill>
              <a:schemeClr val="tx2"/>
            </a:solidFill>
            <a:prstDash val="solid"/>
          </a:ln>
        </p:spPr>
      </p:sp>
      <p:pic>
        <p:nvPicPr>
          <p:cNvPr id="20" name="Jobs &amp; Pipelines ícono" descr="preencoded.png"/>
          <p:cNvPicPr>
            <a:picLocks noChangeAspect="1"/>
          </p:cNvPicPr>
          <p:nvPr/>
        </p:nvPicPr>
        <p:blipFill>
          <a:blip r:embed="rId6"/>
          <a:stretch>
            <a:fillRect/>
          </a:stretch>
        </p:blipFill>
        <p:spPr>
          <a:xfrm>
            <a:off x="989381" y="4235501"/>
            <a:ext cx="307238" cy="307238"/>
          </a:xfrm>
          <a:prstGeom prst="rect">
            <a:avLst/>
          </a:prstGeom>
        </p:spPr>
      </p:pic>
      <p:sp>
        <p:nvSpPr>
          <p:cNvPr id="21" name="Jobs &amp;amp; Pipelines título"/>
          <p:cNvSpPr txBox="1"/>
          <p:nvPr/>
        </p:nvSpPr>
        <p:spPr>
          <a:xfrm>
            <a:off x="822960" y="4800600"/>
            <a:ext cx="2926080" cy="365760"/>
          </a:xfrm>
          <a:prstGeom prst="rect">
            <a:avLst/>
          </a:prstGeom>
          <a:noFill/>
          <a:ln/>
        </p:spPr>
        <p:txBody>
          <a:bodyPr wrap="square" lIns="0" tIns="0" rIns="0" bIns="0" rtlCol="0" anchor="t"/>
          <a:lstStyle/>
          <a:p>
            <a:pPr marL="0" indent="0">
              <a:buNone/>
            </a:pPr>
            <a:r>
              <a:rPr lang="en-US" sz="1800" b="1" dirty="0">
                <a:solidFill>
                  <a:schemeClr val="tx1"/>
                </a:solidFill>
              </a:rPr>
              <a:t>Jobs &amp; Pipelines</a:t>
            </a:r>
            <a:endParaRPr lang="en-US" sz="1800" dirty="0"/>
          </a:p>
        </p:txBody>
      </p:sp>
      <p:sp>
        <p:nvSpPr>
          <p:cNvPr id="22" name="Jobs &amp;amp; Pipelines texto"/>
          <p:cNvSpPr txBox="1"/>
          <p:nvPr/>
        </p:nvSpPr>
        <p:spPr>
          <a:xfrm>
            <a:off x="822960" y="5166360"/>
            <a:ext cx="2926080" cy="548640"/>
          </a:xfrm>
          <a:prstGeom prst="rect">
            <a:avLst/>
          </a:prstGeom>
          <a:noFill/>
          <a:ln/>
        </p:spPr>
        <p:txBody>
          <a:bodyPr wrap="square" lIns="0" tIns="0" rIns="0" bIns="0" rtlCol="0" anchor="t"/>
          <a:lstStyle/>
          <a:p>
            <a:pPr marL="0" indent="0">
              <a:buNone/>
            </a:pPr>
            <a:r>
              <a:rPr lang="en-US" sz="1400" dirty="0">
                <a:solidFill>
                  <a:schemeClr val="accent4"/>
                </a:solidFill>
              </a:rPr>
              <a:t>Programar y orquestar procesos (Lección 5)</a:t>
            </a:r>
            <a:endParaRPr lang="en-US" sz="1400" dirty="0"/>
          </a:p>
        </p:txBody>
      </p:sp>
      <p:sp>
        <p:nvSpPr>
          <p:cNvPr id="23" name="Tarjeta Compute"/>
          <p:cNvSpPr/>
          <p:nvPr/>
        </p:nvSpPr>
        <p:spPr>
          <a:xfrm>
            <a:off x="4297680" y="3794760"/>
            <a:ext cx="3474720" cy="1965960"/>
          </a:xfrm>
          <a:prstGeom prst="roundRect">
            <a:avLst>
              <a:gd name="adj" fmla="val 5581"/>
            </a:avLst>
          </a:prstGeom>
          <a:solidFill>
            <a:schemeClr val="bg2"/>
          </a:solidFill>
          <a:ln w="12700">
            <a:solidFill>
              <a:schemeClr val="bg2"/>
            </a:solidFill>
            <a:prstDash val="solid"/>
          </a:ln>
        </p:spPr>
      </p:sp>
      <p:sp>
        <p:nvSpPr>
          <p:cNvPr id="24" name="Compute círculo"/>
          <p:cNvSpPr/>
          <p:nvPr/>
        </p:nvSpPr>
        <p:spPr>
          <a:xfrm>
            <a:off x="4572000" y="4069080"/>
            <a:ext cx="640080" cy="640080"/>
          </a:xfrm>
          <a:prstGeom prst="ellipse">
            <a:avLst/>
          </a:prstGeom>
          <a:solidFill>
            <a:schemeClr val="tx2"/>
          </a:solidFill>
          <a:ln w="12700">
            <a:solidFill>
              <a:schemeClr val="tx2"/>
            </a:solidFill>
            <a:prstDash val="solid"/>
          </a:ln>
        </p:spPr>
      </p:sp>
      <p:pic>
        <p:nvPicPr>
          <p:cNvPr id="25" name="Compute ícono" descr="preencoded.png"/>
          <p:cNvPicPr>
            <a:picLocks noChangeAspect="1"/>
          </p:cNvPicPr>
          <p:nvPr/>
        </p:nvPicPr>
        <p:blipFill>
          <a:blip r:embed="rId7"/>
          <a:stretch>
            <a:fillRect/>
          </a:stretch>
        </p:blipFill>
        <p:spPr>
          <a:xfrm>
            <a:off x="4738421" y="4235501"/>
            <a:ext cx="307238" cy="307238"/>
          </a:xfrm>
          <a:prstGeom prst="rect">
            <a:avLst/>
          </a:prstGeom>
        </p:spPr>
      </p:pic>
      <p:sp>
        <p:nvSpPr>
          <p:cNvPr id="26" name="Compute título"/>
          <p:cNvSpPr txBox="1"/>
          <p:nvPr/>
        </p:nvSpPr>
        <p:spPr>
          <a:xfrm>
            <a:off x="4572000" y="4800600"/>
            <a:ext cx="2926080" cy="365760"/>
          </a:xfrm>
          <a:prstGeom prst="rect">
            <a:avLst/>
          </a:prstGeom>
          <a:noFill/>
          <a:ln/>
        </p:spPr>
        <p:txBody>
          <a:bodyPr wrap="square" lIns="0" tIns="0" rIns="0" bIns="0" rtlCol="0" anchor="t"/>
          <a:lstStyle/>
          <a:p>
            <a:pPr marL="0" indent="0">
              <a:buNone/>
            </a:pPr>
            <a:r>
              <a:rPr lang="en-US" sz="1800" b="1" dirty="0">
                <a:solidFill>
                  <a:schemeClr val="tx1"/>
                </a:solidFill>
              </a:rPr>
              <a:t>Compute</a:t>
            </a:r>
            <a:endParaRPr lang="en-US" sz="1800" dirty="0"/>
          </a:p>
        </p:txBody>
      </p:sp>
      <p:sp>
        <p:nvSpPr>
          <p:cNvPr id="27" name="Compute texto"/>
          <p:cNvSpPr txBox="1"/>
          <p:nvPr/>
        </p:nvSpPr>
        <p:spPr>
          <a:xfrm>
            <a:off x="4572000" y="5166360"/>
            <a:ext cx="2926080" cy="548640"/>
          </a:xfrm>
          <a:prstGeom prst="rect">
            <a:avLst/>
          </a:prstGeom>
          <a:noFill/>
          <a:ln/>
        </p:spPr>
        <p:txBody>
          <a:bodyPr wrap="square" lIns="0" tIns="0" rIns="0" bIns="0" rtlCol="0" anchor="t"/>
          <a:lstStyle/>
          <a:p>
            <a:pPr marL="0" indent="0">
              <a:buNone/>
            </a:pPr>
            <a:r>
              <a:rPr lang="en-US" sz="1400" dirty="0">
                <a:solidFill>
                  <a:schemeClr val="accent4"/>
                </a:solidFill>
              </a:rPr>
              <a:t>Los recursos que ejecutan tu código</a:t>
            </a:r>
            <a:endParaRPr lang="en-US" sz="1400" dirty="0"/>
          </a:p>
        </p:txBody>
      </p:sp>
      <p:sp>
        <p:nvSpPr>
          <p:cNvPr id="28" name="Tarjeta Git"/>
          <p:cNvSpPr/>
          <p:nvPr/>
        </p:nvSpPr>
        <p:spPr>
          <a:xfrm>
            <a:off x="8046720" y="3794760"/>
            <a:ext cx="3474720" cy="1965960"/>
          </a:xfrm>
          <a:prstGeom prst="roundRect">
            <a:avLst>
              <a:gd name="adj" fmla="val 5581"/>
            </a:avLst>
          </a:prstGeom>
          <a:solidFill>
            <a:schemeClr val="accent2"/>
          </a:solidFill>
          <a:ln w="12700">
            <a:solidFill>
              <a:schemeClr val="accent2"/>
            </a:solidFill>
            <a:prstDash val="solid"/>
          </a:ln>
        </p:spPr>
      </p:sp>
      <p:sp>
        <p:nvSpPr>
          <p:cNvPr id="29" name="Git título"/>
          <p:cNvSpPr txBox="1"/>
          <p:nvPr/>
        </p:nvSpPr>
        <p:spPr>
          <a:xfrm>
            <a:off x="8321040" y="4069080"/>
            <a:ext cx="2926080" cy="365760"/>
          </a:xfrm>
          <a:prstGeom prst="rect">
            <a:avLst/>
          </a:prstGeom>
          <a:noFill/>
          <a:ln/>
        </p:spPr>
        <p:txBody>
          <a:bodyPr wrap="square" lIns="0" tIns="0" rIns="0" bIns="0" rtlCol="0" anchor="t"/>
          <a:lstStyle/>
          <a:p>
            <a:pPr marL="0" indent="0">
              <a:buNone/>
            </a:pPr>
            <a:r>
              <a:rPr lang="en-US" sz="1600" b="1" dirty="0">
                <a:solidFill>
                  <a:schemeClr val="bg1"/>
                </a:solidFill>
              </a:rPr>
              <a:t>Primer paso del curso</a:t>
            </a:r>
            <a:endParaRPr lang="en-US" sz="1600" dirty="0"/>
          </a:p>
        </p:txBody>
      </p:sp>
      <p:sp>
        <p:nvSpPr>
          <p:cNvPr id="30" name="Git texto"/>
          <p:cNvSpPr txBox="1"/>
          <p:nvPr/>
        </p:nvSpPr>
        <p:spPr>
          <a:xfrm>
            <a:off x="8321040" y="4480560"/>
            <a:ext cx="2926080" cy="1097280"/>
          </a:xfrm>
          <a:prstGeom prst="rect">
            <a:avLst/>
          </a:prstGeom>
          <a:noFill/>
          <a:ln/>
        </p:spPr>
        <p:txBody>
          <a:bodyPr wrap="square" lIns="0" tIns="0" rIns="0" bIns="0" rtlCol="0" anchor="t"/>
          <a:lstStyle/>
          <a:p>
            <a:pPr marL="0" indent="0">
              <a:buNone/>
            </a:pPr>
            <a:r>
              <a:rPr lang="en-US" sz="1400" dirty="0">
                <a:solidFill>
                  <a:schemeClr val="bg1"/>
                </a:solidFill>
              </a:rPr>
              <a:t>Workspace → Create → Git folder, pega la URL del repositorio y abre 00_delta_lake</a:t>
            </a:r>
            <a:endParaRPr lang="en-US" sz="1400" dirty="0"/>
          </a:p>
        </p:txBody>
      </p:sp>
      <p:sp>
        <p:nvSpPr>
          <p:cNvPr id="31"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Cada tipo de compute tiene su uso</a:t>
            </a:r>
            <a:endParaRPr lang="en-US" sz="3000" dirty="0"/>
          </a:p>
        </p:txBody>
      </p:sp>
      <p:sp>
        <p:nvSpPr>
          <p:cNvPr id="3" name="Tarjeta Serverless"/>
          <p:cNvSpPr/>
          <p:nvPr/>
        </p:nvSpPr>
        <p:spPr>
          <a:xfrm>
            <a:off x="548640" y="1554480"/>
            <a:ext cx="2606040" cy="4480560"/>
          </a:xfrm>
          <a:prstGeom prst="roundRect">
            <a:avLst>
              <a:gd name="adj" fmla="val 4211"/>
            </a:avLst>
          </a:prstGeom>
          <a:solidFill>
            <a:schemeClr val="bg2"/>
          </a:solidFill>
          <a:ln w="12700">
            <a:solidFill>
              <a:schemeClr val="bg2"/>
            </a:solidFill>
            <a:prstDash val="solid"/>
          </a:ln>
        </p:spPr>
      </p:sp>
      <p:sp>
        <p:nvSpPr>
          <p:cNvPr id="4" name="Serverless círculo"/>
          <p:cNvSpPr/>
          <p:nvPr/>
        </p:nvSpPr>
        <p:spPr>
          <a:xfrm>
            <a:off x="822960" y="1828800"/>
            <a:ext cx="731520" cy="731520"/>
          </a:xfrm>
          <a:prstGeom prst="ellipse">
            <a:avLst/>
          </a:prstGeom>
          <a:solidFill>
            <a:schemeClr val="accent2"/>
          </a:solidFill>
          <a:ln w="12700">
            <a:solidFill>
              <a:schemeClr val="accent2"/>
            </a:solidFill>
            <a:prstDash val="solid"/>
          </a:ln>
        </p:spPr>
      </p:sp>
      <p:pic>
        <p:nvPicPr>
          <p:cNvPr id="5" name="Serverless ícono" descr="preencoded.png"/>
          <p:cNvPicPr>
            <a:picLocks noChangeAspect="1"/>
          </p:cNvPicPr>
          <p:nvPr/>
        </p:nvPicPr>
        <p:blipFill>
          <a:blip r:embed="rId3"/>
          <a:stretch>
            <a:fillRect/>
          </a:stretch>
        </p:blipFill>
        <p:spPr>
          <a:xfrm>
            <a:off x="1013155" y="2018995"/>
            <a:ext cx="351130" cy="351130"/>
          </a:xfrm>
          <a:prstGeom prst="rect">
            <a:avLst/>
          </a:prstGeom>
        </p:spPr>
      </p:pic>
      <p:sp>
        <p:nvSpPr>
          <p:cNvPr id="6" name="Serverless título"/>
          <p:cNvSpPr txBox="1"/>
          <p:nvPr/>
        </p:nvSpPr>
        <p:spPr>
          <a:xfrm>
            <a:off x="822960" y="2743200"/>
            <a:ext cx="2057400" cy="685800"/>
          </a:xfrm>
          <a:prstGeom prst="rect">
            <a:avLst/>
          </a:prstGeom>
          <a:noFill/>
          <a:ln/>
        </p:spPr>
        <p:txBody>
          <a:bodyPr wrap="square" lIns="0" tIns="0" rIns="0" bIns="0" rtlCol="0" anchor="t"/>
          <a:lstStyle/>
          <a:p>
            <a:pPr marL="0" indent="0">
              <a:buNone/>
            </a:pPr>
            <a:r>
              <a:rPr lang="en-US" sz="1800" b="1" dirty="0">
                <a:solidFill>
                  <a:schemeClr val="tx1"/>
                </a:solidFill>
              </a:rPr>
              <a:t>Serverless</a:t>
            </a:r>
            <a:endParaRPr lang="en-US" sz="1800" dirty="0"/>
          </a:p>
        </p:txBody>
      </p:sp>
      <p:sp>
        <p:nvSpPr>
          <p:cNvPr id="7" name="Serverless texto"/>
          <p:cNvSpPr txBox="1"/>
          <p:nvPr/>
        </p:nvSpPr>
        <p:spPr>
          <a:xfrm>
            <a:off x="822960" y="3474720"/>
            <a:ext cx="2057400" cy="1737360"/>
          </a:xfrm>
          <a:prstGeom prst="rect">
            <a:avLst/>
          </a:prstGeom>
          <a:noFill/>
          <a:ln/>
        </p:spPr>
        <p:txBody>
          <a:bodyPr wrap="square" lIns="0" tIns="0" rIns="0" bIns="0" rtlCol="0" anchor="t"/>
          <a:lstStyle/>
          <a:p>
            <a:pPr marL="0" indent="0">
              <a:buNone/>
            </a:pPr>
            <a:r>
              <a:rPr lang="en-US" sz="1400" dirty="0">
                <a:solidFill>
                  <a:schemeClr val="tx1"/>
                </a:solidFill>
              </a:rPr>
              <a:t>Arranca en segundos y Databricks administra la infraestructura. Se paga por uso.</a:t>
            </a:r>
            <a:endParaRPr lang="en-US" sz="1400" dirty="0"/>
          </a:p>
        </p:txBody>
      </p:sp>
      <p:sp>
        <p:nvSpPr>
          <p:cNvPr id="8" name="Serverless uso"/>
          <p:cNvSpPr txBox="1"/>
          <p:nvPr/>
        </p:nvSpPr>
        <p:spPr>
          <a:xfrm>
            <a:off x="822960" y="5257800"/>
            <a:ext cx="2057400" cy="594360"/>
          </a:xfrm>
          <a:prstGeom prst="rect">
            <a:avLst/>
          </a:prstGeom>
          <a:noFill/>
          <a:ln/>
        </p:spPr>
        <p:txBody>
          <a:bodyPr wrap="square" lIns="0" tIns="0" rIns="0" bIns="0" rtlCol="0" anchor="t"/>
          <a:lstStyle/>
          <a:p>
            <a:pPr marL="0" indent="0">
              <a:buNone/>
            </a:pPr>
            <a:r>
              <a:rPr lang="en-US" sz="1300" b="1" dirty="0">
                <a:solidFill>
                  <a:schemeClr val="accent2"/>
                </a:solidFill>
              </a:rPr>
              <a:t>Único disponible en Free Edition</a:t>
            </a:r>
            <a:endParaRPr lang="en-US" sz="1300" dirty="0"/>
          </a:p>
        </p:txBody>
      </p:sp>
      <p:sp>
        <p:nvSpPr>
          <p:cNvPr id="9" name="Tarjeta All-purpose cluster"/>
          <p:cNvSpPr/>
          <p:nvPr/>
        </p:nvSpPr>
        <p:spPr>
          <a:xfrm>
            <a:off x="3355848" y="1554480"/>
            <a:ext cx="2606040" cy="4480560"/>
          </a:xfrm>
          <a:prstGeom prst="roundRect">
            <a:avLst>
              <a:gd name="adj" fmla="val 4211"/>
            </a:avLst>
          </a:prstGeom>
          <a:solidFill>
            <a:schemeClr val="bg2"/>
          </a:solidFill>
          <a:ln w="12700">
            <a:solidFill>
              <a:schemeClr val="bg2"/>
            </a:solidFill>
            <a:prstDash val="solid"/>
          </a:ln>
        </p:spPr>
      </p:sp>
      <p:sp>
        <p:nvSpPr>
          <p:cNvPr id="10" name="All-purpose cluster círculo"/>
          <p:cNvSpPr/>
          <p:nvPr/>
        </p:nvSpPr>
        <p:spPr>
          <a:xfrm>
            <a:off x="3630168" y="1828800"/>
            <a:ext cx="731520" cy="731520"/>
          </a:xfrm>
          <a:prstGeom prst="ellipse">
            <a:avLst/>
          </a:prstGeom>
          <a:solidFill>
            <a:schemeClr val="tx2"/>
          </a:solidFill>
          <a:ln w="12700">
            <a:solidFill>
              <a:schemeClr val="tx2"/>
            </a:solidFill>
            <a:prstDash val="solid"/>
          </a:ln>
        </p:spPr>
      </p:sp>
      <p:pic>
        <p:nvPicPr>
          <p:cNvPr id="11" name="All-purpose cluster ícono" descr="preencoded.png"/>
          <p:cNvPicPr>
            <a:picLocks noChangeAspect="1"/>
          </p:cNvPicPr>
          <p:nvPr/>
        </p:nvPicPr>
        <p:blipFill>
          <a:blip r:embed="rId4"/>
          <a:stretch>
            <a:fillRect/>
          </a:stretch>
        </p:blipFill>
        <p:spPr>
          <a:xfrm>
            <a:off x="3820363" y="2018995"/>
            <a:ext cx="351130" cy="351130"/>
          </a:xfrm>
          <a:prstGeom prst="rect">
            <a:avLst/>
          </a:prstGeom>
        </p:spPr>
      </p:pic>
      <p:sp>
        <p:nvSpPr>
          <p:cNvPr id="12" name="All-purpose cluster título"/>
          <p:cNvSpPr txBox="1"/>
          <p:nvPr/>
        </p:nvSpPr>
        <p:spPr>
          <a:xfrm>
            <a:off x="3630168" y="2743200"/>
            <a:ext cx="2057400" cy="685800"/>
          </a:xfrm>
          <a:prstGeom prst="rect">
            <a:avLst/>
          </a:prstGeom>
          <a:noFill/>
          <a:ln/>
        </p:spPr>
        <p:txBody>
          <a:bodyPr wrap="square" lIns="0" tIns="0" rIns="0" bIns="0" rtlCol="0" anchor="t"/>
          <a:lstStyle/>
          <a:p>
            <a:pPr marL="0" indent="0">
              <a:buNone/>
            </a:pPr>
            <a:r>
              <a:rPr lang="en-US" sz="1800" b="1" dirty="0">
                <a:solidFill>
                  <a:schemeClr val="tx1"/>
                </a:solidFill>
              </a:rPr>
              <a:t>All-purpose cluster</a:t>
            </a:r>
            <a:endParaRPr lang="en-US" sz="1800" dirty="0"/>
          </a:p>
        </p:txBody>
      </p:sp>
      <p:sp>
        <p:nvSpPr>
          <p:cNvPr id="13" name="All-purpose cluster texto"/>
          <p:cNvSpPr txBox="1"/>
          <p:nvPr/>
        </p:nvSpPr>
        <p:spPr>
          <a:xfrm>
            <a:off x="3630168" y="3474720"/>
            <a:ext cx="2057400" cy="1737360"/>
          </a:xfrm>
          <a:prstGeom prst="rect">
            <a:avLst/>
          </a:prstGeom>
          <a:noFill/>
          <a:ln/>
        </p:spPr>
        <p:txBody>
          <a:bodyPr wrap="square" lIns="0" tIns="0" rIns="0" bIns="0" rtlCol="0" anchor="t"/>
          <a:lstStyle/>
          <a:p>
            <a:pPr marL="0" indent="0">
              <a:buNone/>
            </a:pPr>
            <a:r>
              <a:rPr lang="en-US" sz="1400" dirty="0">
                <a:solidFill>
                  <a:schemeClr val="tx1"/>
                </a:solidFill>
              </a:rPr>
              <a:t>Trabajo interactivo en notebooks. Configúrale auto termination para no pagar tiempo ocioso.</a:t>
            </a:r>
            <a:endParaRPr lang="en-US" sz="1400" dirty="0"/>
          </a:p>
        </p:txBody>
      </p:sp>
      <p:sp>
        <p:nvSpPr>
          <p:cNvPr id="14" name="All-purpose cluster uso"/>
          <p:cNvSpPr txBox="1"/>
          <p:nvPr/>
        </p:nvSpPr>
        <p:spPr>
          <a:xfrm>
            <a:off x="3630168" y="5257800"/>
            <a:ext cx="2057400" cy="594360"/>
          </a:xfrm>
          <a:prstGeom prst="rect">
            <a:avLst/>
          </a:prstGeom>
          <a:noFill/>
          <a:ln/>
        </p:spPr>
        <p:txBody>
          <a:bodyPr wrap="square" lIns="0" tIns="0" rIns="0" bIns="0" rtlCol="0" anchor="t"/>
          <a:lstStyle/>
          <a:p>
            <a:pPr marL="0" indent="0">
              <a:buNone/>
            </a:pPr>
            <a:r>
              <a:rPr lang="en-US" sz="1300" b="1" dirty="0">
                <a:solidFill>
                  <a:schemeClr val="accent4"/>
                </a:solidFill>
              </a:rPr>
              <a:t>Exploración y desarrollo</a:t>
            </a:r>
            <a:endParaRPr lang="en-US" sz="1300" dirty="0"/>
          </a:p>
        </p:txBody>
      </p:sp>
      <p:sp>
        <p:nvSpPr>
          <p:cNvPr id="15" name="Tarjeta Job compute"/>
          <p:cNvSpPr/>
          <p:nvPr/>
        </p:nvSpPr>
        <p:spPr>
          <a:xfrm>
            <a:off x="6163056" y="1554480"/>
            <a:ext cx="2606040" cy="4480560"/>
          </a:xfrm>
          <a:prstGeom prst="roundRect">
            <a:avLst>
              <a:gd name="adj" fmla="val 4211"/>
            </a:avLst>
          </a:prstGeom>
          <a:solidFill>
            <a:schemeClr val="bg2"/>
          </a:solidFill>
          <a:ln w="12700">
            <a:solidFill>
              <a:schemeClr val="bg2"/>
            </a:solidFill>
            <a:prstDash val="solid"/>
          </a:ln>
        </p:spPr>
      </p:sp>
      <p:sp>
        <p:nvSpPr>
          <p:cNvPr id="16" name="Job compute círculo"/>
          <p:cNvSpPr/>
          <p:nvPr/>
        </p:nvSpPr>
        <p:spPr>
          <a:xfrm>
            <a:off x="6437376" y="1828800"/>
            <a:ext cx="731520" cy="731520"/>
          </a:xfrm>
          <a:prstGeom prst="ellipse">
            <a:avLst/>
          </a:prstGeom>
          <a:solidFill>
            <a:schemeClr val="tx2"/>
          </a:solidFill>
          <a:ln w="12700">
            <a:solidFill>
              <a:schemeClr val="tx2"/>
            </a:solidFill>
            <a:prstDash val="solid"/>
          </a:ln>
        </p:spPr>
      </p:sp>
      <p:pic>
        <p:nvPicPr>
          <p:cNvPr id="17" name="Job compute ícono" descr="preencoded.png"/>
          <p:cNvPicPr>
            <a:picLocks noChangeAspect="1"/>
          </p:cNvPicPr>
          <p:nvPr/>
        </p:nvPicPr>
        <p:blipFill>
          <a:blip r:embed="rId5"/>
          <a:stretch>
            <a:fillRect/>
          </a:stretch>
        </p:blipFill>
        <p:spPr>
          <a:xfrm>
            <a:off x="6627571" y="2018995"/>
            <a:ext cx="351130" cy="351130"/>
          </a:xfrm>
          <a:prstGeom prst="rect">
            <a:avLst/>
          </a:prstGeom>
        </p:spPr>
      </p:pic>
      <p:sp>
        <p:nvSpPr>
          <p:cNvPr id="18" name="Job compute título"/>
          <p:cNvSpPr txBox="1"/>
          <p:nvPr/>
        </p:nvSpPr>
        <p:spPr>
          <a:xfrm>
            <a:off x="6437376" y="2743200"/>
            <a:ext cx="2057400" cy="685800"/>
          </a:xfrm>
          <a:prstGeom prst="rect">
            <a:avLst/>
          </a:prstGeom>
          <a:noFill/>
          <a:ln/>
        </p:spPr>
        <p:txBody>
          <a:bodyPr wrap="square" lIns="0" tIns="0" rIns="0" bIns="0" rtlCol="0" anchor="t"/>
          <a:lstStyle/>
          <a:p>
            <a:pPr marL="0" indent="0">
              <a:buNone/>
            </a:pPr>
            <a:r>
              <a:rPr lang="en-US" sz="1800" b="1" dirty="0">
                <a:solidFill>
                  <a:schemeClr val="tx1"/>
                </a:solidFill>
              </a:rPr>
              <a:t>Job compute</a:t>
            </a:r>
            <a:endParaRPr lang="en-US" sz="1800" dirty="0"/>
          </a:p>
        </p:txBody>
      </p:sp>
      <p:sp>
        <p:nvSpPr>
          <p:cNvPr id="19" name="Job compute texto"/>
          <p:cNvSpPr txBox="1"/>
          <p:nvPr/>
        </p:nvSpPr>
        <p:spPr>
          <a:xfrm>
            <a:off x="6437376" y="3474720"/>
            <a:ext cx="2057400" cy="1737360"/>
          </a:xfrm>
          <a:prstGeom prst="rect">
            <a:avLst/>
          </a:prstGeom>
          <a:noFill/>
          <a:ln/>
        </p:spPr>
        <p:txBody>
          <a:bodyPr wrap="square" lIns="0" tIns="0" rIns="0" bIns="0" rtlCol="0" anchor="t"/>
          <a:lstStyle/>
          <a:p>
            <a:pPr marL="0" indent="0">
              <a:buNone/>
            </a:pPr>
            <a:r>
              <a:rPr lang="en-US" sz="1400" dirty="0">
                <a:solidFill>
                  <a:schemeClr val="tx1"/>
                </a:solidFill>
              </a:rPr>
              <a:t>Existe solo mientras corre el job. Más barato que un all-purpose.</a:t>
            </a:r>
            <a:endParaRPr lang="en-US" sz="1400" dirty="0"/>
          </a:p>
        </p:txBody>
      </p:sp>
      <p:sp>
        <p:nvSpPr>
          <p:cNvPr id="20" name="Job compute uso"/>
          <p:cNvSpPr txBox="1"/>
          <p:nvPr/>
        </p:nvSpPr>
        <p:spPr>
          <a:xfrm>
            <a:off x="6437376" y="5257800"/>
            <a:ext cx="2057400" cy="594360"/>
          </a:xfrm>
          <a:prstGeom prst="rect">
            <a:avLst/>
          </a:prstGeom>
          <a:noFill/>
          <a:ln/>
        </p:spPr>
        <p:txBody>
          <a:bodyPr wrap="square" lIns="0" tIns="0" rIns="0" bIns="0" rtlCol="0" anchor="t"/>
          <a:lstStyle/>
          <a:p>
            <a:pPr marL="0" indent="0">
              <a:buNone/>
            </a:pPr>
            <a:r>
              <a:rPr lang="en-US" sz="1300" b="1" dirty="0">
                <a:solidFill>
                  <a:schemeClr val="accent4"/>
                </a:solidFill>
              </a:rPr>
              <a:t>Procesos programados</a:t>
            </a:r>
            <a:endParaRPr lang="en-US" sz="1300" dirty="0"/>
          </a:p>
        </p:txBody>
      </p:sp>
      <p:sp>
        <p:nvSpPr>
          <p:cNvPr id="21" name="Tarjeta SQL warehouse"/>
          <p:cNvSpPr/>
          <p:nvPr/>
        </p:nvSpPr>
        <p:spPr>
          <a:xfrm>
            <a:off x="8970264" y="1554480"/>
            <a:ext cx="2606040" cy="4480560"/>
          </a:xfrm>
          <a:prstGeom prst="roundRect">
            <a:avLst>
              <a:gd name="adj" fmla="val 4211"/>
            </a:avLst>
          </a:prstGeom>
          <a:solidFill>
            <a:schemeClr val="bg2"/>
          </a:solidFill>
          <a:ln w="12700">
            <a:solidFill>
              <a:schemeClr val="bg2"/>
            </a:solidFill>
            <a:prstDash val="solid"/>
          </a:ln>
        </p:spPr>
      </p:sp>
      <p:sp>
        <p:nvSpPr>
          <p:cNvPr id="22" name="SQL warehouse círculo"/>
          <p:cNvSpPr/>
          <p:nvPr/>
        </p:nvSpPr>
        <p:spPr>
          <a:xfrm>
            <a:off x="9244584" y="1828800"/>
            <a:ext cx="731520" cy="731520"/>
          </a:xfrm>
          <a:prstGeom prst="ellipse">
            <a:avLst/>
          </a:prstGeom>
          <a:solidFill>
            <a:schemeClr val="tx2"/>
          </a:solidFill>
          <a:ln w="12700">
            <a:solidFill>
              <a:schemeClr val="tx2"/>
            </a:solidFill>
            <a:prstDash val="solid"/>
          </a:ln>
        </p:spPr>
      </p:sp>
      <p:pic>
        <p:nvPicPr>
          <p:cNvPr id="23" name="SQL warehouse ícono" descr="preencoded.png"/>
          <p:cNvPicPr>
            <a:picLocks noChangeAspect="1"/>
          </p:cNvPicPr>
          <p:nvPr/>
        </p:nvPicPr>
        <p:blipFill>
          <a:blip r:embed="rId6"/>
          <a:stretch>
            <a:fillRect/>
          </a:stretch>
        </p:blipFill>
        <p:spPr>
          <a:xfrm>
            <a:off x="9434779" y="2018995"/>
            <a:ext cx="351130" cy="351130"/>
          </a:xfrm>
          <a:prstGeom prst="rect">
            <a:avLst/>
          </a:prstGeom>
        </p:spPr>
      </p:pic>
      <p:sp>
        <p:nvSpPr>
          <p:cNvPr id="24" name="SQL warehouse título"/>
          <p:cNvSpPr txBox="1"/>
          <p:nvPr/>
        </p:nvSpPr>
        <p:spPr>
          <a:xfrm>
            <a:off x="9244584" y="2743200"/>
            <a:ext cx="2057400" cy="685800"/>
          </a:xfrm>
          <a:prstGeom prst="rect">
            <a:avLst/>
          </a:prstGeom>
          <a:noFill/>
          <a:ln/>
        </p:spPr>
        <p:txBody>
          <a:bodyPr wrap="square" lIns="0" tIns="0" rIns="0" bIns="0" rtlCol="0" anchor="t"/>
          <a:lstStyle/>
          <a:p>
            <a:pPr marL="0" indent="0">
              <a:buNone/>
            </a:pPr>
            <a:r>
              <a:rPr lang="en-US" sz="1800" b="1" dirty="0">
                <a:solidFill>
                  <a:schemeClr val="tx1"/>
                </a:solidFill>
              </a:rPr>
              <a:t>SQL warehouse</a:t>
            </a:r>
            <a:endParaRPr lang="en-US" sz="1800" dirty="0"/>
          </a:p>
        </p:txBody>
      </p:sp>
      <p:sp>
        <p:nvSpPr>
          <p:cNvPr id="25" name="SQL warehouse texto"/>
          <p:cNvSpPr txBox="1"/>
          <p:nvPr/>
        </p:nvSpPr>
        <p:spPr>
          <a:xfrm>
            <a:off x="9244584" y="3474720"/>
            <a:ext cx="2057400" cy="1737360"/>
          </a:xfrm>
          <a:prstGeom prst="rect">
            <a:avLst/>
          </a:prstGeom>
          <a:noFill/>
          <a:ln/>
        </p:spPr>
        <p:txBody>
          <a:bodyPr wrap="square" lIns="0" tIns="0" rIns="0" bIns="0" rtlCol="0" anchor="t"/>
          <a:lstStyle/>
          <a:p>
            <a:pPr marL="0" indent="0">
              <a:buNone/>
            </a:pPr>
            <a:r>
              <a:rPr lang="en-US" sz="1400" dirty="0">
                <a:solidFill>
                  <a:schemeClr val="tx1"/>
                </a:solidFill>
              </a:rPr>
              <a:t>Optimizado para consultas SQL y dashboards.</a:t>
            </a:r>
            <a:endParaRPr lang="en-US" sz="1400" dirty="0"/>
          </a:p>
        </p:txBody>
      </p:sp>
      <p:sp>
        <p:nvSpPr>
          <p:cNvPr id="26" name="SQL warehouse uso"/>
          <p:cNvSpPr txBox="1"/>
          <p:nvPr/>
        </p:nvSpPr>
        <p:spPr>
          <a:xfrm>
            <a:off x="9244584" y="5257800"/>
            <a:ext cx="2057400" cy="594360"/>
          </a:xfrm>
          <a:prstGeom prst="rect">
            <a:avLst/>
          </a:prstGeom>
          <a:noFill/>
          <a:ln/>
        </p:spPr>
        <p:txBody>
          <a:bodyPr wrap="square" lIns="0" tIns="0" rIns="0" bIns="0" rtlCol="0" anchor="t"/>
          <a:lstStyle/>
          <a:p>
            <a:pPr marL="0" indent="0">
              <a:buNone/>
            </a:pPr>
            <a:r>
              <a:rPr lang="en-US" sz="1300" b="1" dirty="0">
                <a:solidFill>
                  <a:schemeClr val="accent4"/>
                </a:solidFill>
              </a:rPr>
              <a:t>Analistas y BI</a:t>
            </a:r>
            <a:endParaRPr lang="en-US" sz="1300" dirty="0"/>
          </a:p>
        </p:txBody>
      </p:sp>
      <p:sp>
        <p:nvSpPr>
          <p:cNvPr id="27"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Todo dato vive en una jerarquía de tres niveles</a:t>
            </a:r>
            <a:endParaRPr lang="en-US" sz="3000" dirty="0"/>
          </a:p>
        </p:txBody>
      </p:sp>
      <p:sp>
        <p:nvSpPr>
          <p:cNvPr id="3" name="Nivel Metastore"/>
          <p:cNvSpPr/>
          <p:nvPr/>
        </p:nvSpPr>
        <p:spPr>
          <a:xfrm>
            <a:off x="548640" y="1554480"/>
            <a:ext cx="6035040" cy="777240"/>
          </a:xfrm>
          <a:prstGeom prst="roundRect">
            <a:avLst>
              <a:gd name="adj" fmla="val 11765"/>
            </a:avLst>
          </a:prstGeom>
          <a:solidFill>
            <a:schemeClr val="accent4"/>
          </a:solidFill>
          <a:ln w="12700">
            <a:solidFill>
              <a:schemeClr val="tx2"/>
            </a:solidFill>
            <a:prstDash val="solid"/>
          </a:ln>
        </p:spPr>
      </p:sp>
      <p:sp>
        <p:nvSpPr>
          <p:cNvPr id="4" name="Nivel texto Metastore"/>
          <p:cNvSpPr txBox="1"/>
          <p:nvPr/>
        </p:nvSpPr>
        <p:spPr>
          <a:xfrm>
            <a:off x="822960" y="1645920"/>
            <a:ext cx="5486400" cy="640080"/>
          </a:xfrm>
          <a:prstGeom prst="rect">
            <a:avLst/>
          </a:prstGeom>
          <a:noFill/>
          <a:ln/>
        </p:spPr>
        <p:txBody>
          <a:bodyPr wrap="square" lIns="0" tIns="0" rIns="0" bIns="0" rtlCol="0" anchor="t"/>
          <a:lstStyle/>
          <a:p>
            <a:pPr marL="0" indent="0">
              <a:buNone/>
            </a:pPr>
            <a:r>
              <a:rPr lang="en-US" sz="1700" b="1" dirty="0">
                <a:solidFill>
                  <a:schemeClr val="bg1"/>
                </a:solidFill>
              </a:rPr>
              <a:t>Metastore</a:t>
            </a:r>
            <a:endParaRPr lang="en-US" sz="1700" dirty="0"/>
          </a:p>
          <a:p>
            <a:pPr marL="0" indent="0">
              <a:buNone/>
            </a:pPr>
            <a:r>
              <a:rPr lang="en-US" sz="1300" dirty="0">
                <a:solidFill>
                  <a:schemeClr val="bg2"/>
                </a:solidFill>
              </a:rPr>
              <a:t>Se puede compartir entre workspaces de una región</a:t>
            </a:r>
            <a:endParaRPr lang="en-US" sz="1700" dirty="0"/>
          </a:p>
        </p:txBody>
      </p:sp>
      <p:sp>
        <p:nvSpPr>
          <p:cNvPr id="5" name="Nivel Catalog"/>
          <p:cNvSpPr/>
          <p:nvPr/>
        </p:nvSpPr>
        <p:spPr>
          <a:xfrm>
            <a:off x="1051560" y="2514600"/>
            <a:ext cx="5532120" cy="777240"/>
          </a:xfrm>
          <a:prstGeom prst="roundRect">
            <a:avLst>
              <a:gd name="adj" fmla="val 11765"/>
            </a:avLst>
          </a:prstGeom>
          <a:solidFill>
            <a:schemeClr val="tx2"/>
          </a:solidFill>
          <a:ln w="12700">
            <a:solidFill>
              <a:schemeClr val="tx2"/>
            </a:solidFill>
            <a:prstDash val="solid"/>
          </a:ln>
        </p:spPr>
      </p:sp>
      <p:sp>
        <p:nvSpPr>
          <p:cNvPr id="6" name="Nivel texto Catalog"/>
          <p:cNvSpPr txBox="1"/>
          <p:nvPr/>
        </p:nvSpPr>
        <p:spPr>
          <a:xfrm>
            <a:off x="1325880" y="2606040"/>
            <a:ext cx="4983480" cy="640080"/>
          </a:xfrm>
          <a:prstGeom prst="rect">
            <a:avLst/>
          </a:prstGeom>
          <a:noFill/>
          <a:ln/>
        </p:spPr>
        <p:txBody>
          <a:bodyPr wrap="square" lIns="0" tIns="0" rIns="0" bIns="0" rtlCol="0" anchor="t"/>
          <a:lstStyle/>
          <a:p>
            <a:pPr marL="0" indent="0">
              <a:buNone/>
            </a:pPr>
            <a:r>
              <a:rPr lang="en-US" sz="1700" b="1" dirty="0">
                <a:solidFill>
                  <a:schemeClr val="bg1"/>
                </a:solidFill>
              </a:rPr>
              <a:t>Catalog</a:t>
            </a:r>
            <a:endParaRPr lang="en-US" sz="1700" dirty="0"/>
          </a:p>
          <a:p>
            <a:pPr marL="0" indent="0">
              <a:buNone/>
            </a:pPr>
            <a:r>
              <a:rPr lang="en-US" sz="1300" dirty="0">
                <a:solidFill>
                  <a:schemeClr val="bg2"/>
                </a:solidFill>
              </a:rPr>
              <a:t>workspace</a:t>
            </a:r>
            <a:endParaRPr lang="en-US" sz="1700" dirty="0"/>
          </a:p>
        </p:txBody>
      </p:sp>
      <p:sp>
        <p:nvSpPr>
          <p:cNvPr id="7" name="Nivel Schema"/>
          <p:cNvSpPr/>
          <p:nvPr/>
        </p:nvSpPr>
        <p:spPr>
          <a:xfrm>
            <a:off x="1554480" y="3474720"/>
            <a:ext cx="5029200" cy="777240"/>
          </a:xfrm>
          <a:prstGeom prst="roundRect">
            <a:avLst>
              <a:gd name="adj" fmla="val 11765"/>
            </a:avLst>
          </a:prstGeom>
          <a:solidFill>
            <a:schemeClr val="tx2"/>
          </a:solidFill>
          <a:ln w="12700">
            <a:solidFill>
              <a:schemeClr val="tx2"/>
            </a:solidFill>
            <a:prstDash val="solid"/>
          </a:ln>
        </p:spPr>
      </p:sp>
      <p:sp>
        <p:nvSpPr>
          <p:cNvPr id="8" name="Nivel texto Schema"/>
          <p:cNvSpPr txBox="1"/>
          <p:nvPr/>
        </p:nvSpPr>
        <p:spPr>
          <a:xfrm>
            <a:off x="1828800" y="3566160"/>
            <a:ext cx="4480560" cy="640080"/>
          </a:xfrm>
          <a:prstGeom prst="rect">
            <a:avLst/>
          </a:prstGeom>
          <a:noFill/>
          <a:ln/>
        </p:spPr>
        <p:txBody>
          <a:bodyPr wrap="square" lIns="0" tIns="0" rIns="0" bIns="0" rtlCol="0" anchor="t"/>
          <a:lstStyle/>
          <a:p>
            <a:pPr marL="0" indent="0">
              <a:buNone/>
            </a:pPr>
            <a:r>
              <a:rPr lang="en-US" sz="1700" b="1" dirty="0">
                <a:solidFill>
                  <a:schemeClr val="bg1"/>
                </a:solidFill>
              </a:rPr>
              <a:t>Schema</a:t>
            </a:r>
            <a:endParaRPr lang="en-US" sz="1700" dirty="0"/>
          </a:p>
          <a:p>
            <a:pPr marL="0" indent="0">
              <a:buNone/>
            </a:pPr>
            <a:r>
              <a:rPr lang="en-US" sz="1300" dirty="0">
                <a:solidFill>
                  <a:schemeClr val="bg2"/>
                </a:solidFill>
              </a:rPr>
              <a:t>lab_delta</a:t>
            </a:r>
            <a:endParaRPr lang="en-US" sz="1700" dirty="0"/>
          </a:p>
        </p:txBody>
      </p:sp>
      <p:sp>
        <p:nvSpPr>
          <p:cNvPr id="9" name="Nivel Tabla · volume · vista · función"/>
          <p:cNvSpPr/>
          <p:nvPr/>
        </p:nvSpPr>
        <p:spPr>
          <a:xfrm>
            <a:off x="2057400" y="4434840"/>
            <a:ext cx="4526280" cy="777240"/>
          </a:xfrm>
          <a:prstGeom prst="roundRect">
            <a:avLst>
              <a:gd name="adj" fmla="val 11765"/>
            </a:avLst>
          </a:prstGeom>
          <a:solidFill>
            <a:schemeClr val="tx2"/>
          </a:solidFill>
          <a:ln w="12700">
            <a:solidFill>
              <a:schemeClr val="tx2"/>
            </a:solidFill>
            <a:prstDash val="solid"/>
          </a:ln>
        </p:spPr>
      </p:sp>
      <p:sp>
        <p:nvSpPr>
          <p:cNvPr id="10" name="Nivel texto Tabla · volume · vista · función"/>
          <p:cNvSpPr txBox="1"/>
          <p:nvPr/>
        </p:nvSpPr>
        <p:spPr>
          <a:xfrm>
            <a:off x="2331720" y="4526280"/>
            <a:ext cx="3977640" cy="640080"/>
          </a:xfrm>
          <a:prstGeom prst="rect">
            <a:avLst/>
          </a:prstGeom>
          <a:noFill/>
          <a:ln/>
        </p:spPr>
        <p:txBody>
          <a:bodyPr wrap="square" lIns="0" tIns="0" rIns="0" bIns="0" rtlCol="0" anchor="t"/>
          <a:lstStyle/>
          <a:p>
            <a:pPr marL="0" indent="0">
              <a:buNone/>
            </a:pPr>
            <a:r>
              <a:rPr lang="en-US" sz="1700" b="1" dirty="0">
                <a:solidFill>
                  <a:schemeClr val="bg1"/>
                </a:solidFill>
              </a:rPr>
              <a:t>Tabla · volume · vista · función</a:t>
            </a:r>
            <a:endParaRPr lang="en-US" sz="1700" dirty="0"/>
          </a:p>
          <a:p>
            <a:pPr marL="0" indent="0">
              <a:buNone/>
            </a:pPr>
            <a:r>
              <a:rPr lang="en-US" sz="1300" dirty="0">
                <a:solidFill>
                  <a:schemeClr val="bg2"/>
                </a:solidFill>
              </a:rPr>
              <a:t>transacciones</a:t>
            </a:r>
            <a:endParaRPr lang="en-US" sz="1700" dirty="0"/>
          </a:p>
        </p:txBody>
      </p:sp>
      <p:sp>
        <p:nvSpPr>
          <p:cNvPr id="11" name="Nombre título"/>
          <p:cNvSpPr txBox="1"/>
          <p:nvPr/>
        </p:nvSpPr>
        <p:spPr>
          <a:xfrm>
            <a:off x="7498080" y="1645920"/>
            <a:ext cx="4114800" cy="365760"/>
          </a:xfrm>
          <a:prstGeom prst="rect">
            <a:avLst/>
          </a:prstGeom>
          <a:noFill/>
          <a:ln/>
        </p:spPr>
        <p:txBody>
          <a:bodyPr wrap="square" lIns="0" tIns="0" rIns="0" bIns="0" rtlCol="0" anchor="t"/>
          <a:lstStyle/>
          <a:p>
            <a:pPr marL="0" indent="0">
              <a:buNone/>
            </a:pPr>
            <a:r>
              <a:rPr lang="en-US" sz="1600" b="1" dirty="0">
                <a:solidFill>
                  <a:schemeClr val="tx1"/>
                </a:solidFill>
              </a:rPr>
              <a:t>Nombre completo de una tabla</a:t>
            </a:r>
            <a:endParaRPr lang="en-US" sz="1600" dirty="0"/>
          </a:p>
        </p:txBody>
      </p:sp>
      <p:sp>
        <p:nvSpPr>
          <p:cNvPr id="12" name="Nombre ejemplo fondo"/>
          <p:cNvSpPr/>
          <p:nvPr/>
        </p:nvSpPr>
        <p:spPr>
          <a:xfrm>
            <a:off x="7498080" y="2103120"/>
            <a:ext cx="4114800" cy="822960"/>
          </a:xfrm>
          <a:prstGeom prst="roundRect">
            <a:avLst>
              <a:gd name="adj" fmla="val 11111"/>
            </a:avLst>
          </a:prstGeom>
          <a:solidFill>
            <a:schemeClr val="accent6"/>
          </a:solidFill>
          <a:ln w="12700">
            <a:solidFill>
              <a:schemeClr val="accent6"/>
            </a:solidFill>
            <a:prstDash val="solid"/>
          </a:ln>
        </p:spPr>
      </p:sp>
      <p:sp>
        <p:nvSpPr>
          <p:cNvPr id="13" name="Nombre ejemplo"/>
          <p:cNvSpPr txBox="1"/>
          <p:nvPr/>
        </p:nvSpPr>
        <p:spPr>
          <a:xfrm>
            <a:off x="7726680" y="2286000"/>
            <a:ext cx="3657600" cy="457200"/>
          </a:xfrm>
          <a:prstGeom prst="rect">
            <a:avLst/>
          </a:prstGeom>
          <a:noFill/>
          <a:ln/>
        </p:spPr>
        <p:txBody>
          <a:bodyPr wrap="square" lIns="0" tIns="0" rIns="0" bIns="0" rtlCol="0" anchor="t"/>
          <a:lstStyle/>
          <a:p>
            <a:pPr marL="0" indent="0">
              <a:buNone/>
            </a:pPr>
            <a:r>
              <a:rPr lang="en-US" sz="1400" dirty="0">
                <a:solidFill>
                  <a:srgbClr val="E7ECF5"/>
                </a:solidFill>
                <a:latin typeface="Courier New" pitchFamily="34" charset="0"/>
                <a:ea typeface="Courier New" pitchFamily="34" charset="-122"/>
                <a:cs typeface="Courier New" pitchFamily="34" charset="-120"/>
              </a:rPr>
              <a:t>workspace.lab_delta.transacciones</a:t>
            </a:r>
            <a:endParaRPr lang="en-US" sz="1400" dirty="0"/>
          </a:p>
        </p:txBody>
      </p:sp>
      <p:sp>
        <p:nvSpPr>
          <p:cNvPr id="14" name="Nombre patrón"/>
          <p:cNvSpPr txBox="1"/>
          <p:nvPr/>
        </p:nvSpPr>
        <p:spPr>
          <a:xfrm>
            <a:off x="7498080" y="3063240"/>
            <a:ext cx="4114800" cy="365760"/>
          </a:xfrm>
          <a:prstGeom prst="rect">
            <a:avLst/>
          </a:prstGeom>
          <a:noFill/>
          <a:ln/>
        </p:spPr>
        <p:txBody>
          <a:bodyPr wrap="square" lIns="0" tIns="0" rIns="0" bIns="0" rtlCol="0" anchor="t"/>
          <a:lstStyle/>
          <a:p>
            <a:pPr marL="0" indent="0">
              <a:buNone/>
            </a:pPr>
            <a:r>
              <a:rPr lang="en-US" sz="1400" dirty="0">
                <a:solidFill>
                  <a:schemeClr val="accent4"/>
                </a:solidFill>
              </a:rPr>
              <a:t>catalog.schema.tabla</a:t>
            </a:r>
            <a:endParaRPr lang="en-US" sz="1400" dirty="0"/>
          </a:p>
        </p:txBody>
      </p:sp>
      <p:sp>
        <p:nvSpPr>
          <p:cNvPr id="15" name="Nota Free Edition"/>
          <p:cNvSpPr txBox="1"/>
          <p:nvPr/>
        </p:nvSpPr>
        <p:spPr>
          <a:xfrm>
            <a:off x="7498080" y="3749040"/>
            <a:ext cx="4114800" cy="1828800"/>
          </a:xfrm>
          <a:prstGeom prst="rect">
            <a:avLst/>
          </a:prstGeom>
          <a:noFill/>
          <a:ln/>
        </p:spPr>
        <p:txBody>
          <a:bodyPr wrap="square" lIns="0" tIns="0" rIns="0" bIns="0" rtlCol="0" anchor="t"/>
          <a:lstStyle/>
          <a:p>
            <a:pPr marL="0" indent="0">
              <a:buNone/>
            </a:pPr>
            <a:r>
              <a:rPr lang="en-US" sz="1400" dirty="0">
                <a:solidFill>
                  <a:schemeClr val="tx1"/>
                </a:solidFill>
              </a:rPr>
              <a:t>En Free Edition tienes dos catálogos: workspace, donde trabajas, y samples, con datos de ejemplo de solo lectura. Abre samples.nyctaxi.trips en Catalog Explorer y mira su pestaña History.</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úmero sección"/>
          <p:cNvSpPr txBox="1"/>
          <p:nvPr/>
        </p:nvSpPr>
        <p:spPr>
          <a:xfrm>
            <a:off x="548640" y="1737360"/>
            <a:ext cx="2743200" cy="914400"/>
          </a:xfrm>
          <a:prstGeom prst="rect">
            <a:avLst/>
          </a:prstGeom>
          <a:noFill/>
          <a:ln/>
        </p:spPr>
        <p:txBody>
          <a:bodyPr wrap="square" lIns="0" tIns="0" rIns="0" bIns="0" rtlCol="0" anchor="t"/>
          <a:lstStyle/>
          <a:p>
            <a:pPr marL="0" indent="0">
              <a:buNone/>
            </a:pPr>
            <a:r>
              <a:rPr lang="en-US" sz="6000" b="1" dirty="0">
                <a:solidFill>
                  <a:schemeClr val="accent2"/>
                </a:solidFill>
              </a:rPr>
              <a:t>02</a:t>
            </a:r>
            <a:endParaRPr lang="en-US" sz="6000" dirty="0"/>
          </a:p>
        </p:txBody>
      </p:sp>
      <p:sp>
        <p:nvSpPr>
          <p:cNvPr id="3" name="Text 0"/>
          <p:cNvSpPr>
            <a:spLocks noGrp="1"/>
          </p:cNvSpPr>
          <p:nvPr>
            <p:ph type="title" idx="100" hasCustomPrompt="1"/>
          </p:nvPr>
        </p:nvSpPr>
        <p:spPr>
          <a:xfrm>
            <a:off x="548640" y="2834640"/>
            <a:ext cx="10058400" cy="914400"/>
          </a:xfrm>
          <a:prstGeom prst="rect">
            <a:avLst/>
          </a:prstGeom>
          <a:noFill/>
          <a:ln/>
        </p:spPr>
        <p:txBody>
          <a:bodyPr wrap="square" lIns="0" tIns="0" rIns="0" bIns="0" rtlCol="0"/>
          <a:lstStyle/>
          <a:p>
            <a:pPr marL="0" indent="0" algn="l">
              <a:buNone/>
            </a:pPr>
            <a:r>
              <a:rPr lang="en-US" sz="4000" b="1" dirty="0">
                <a:solidFill>
                  <a:schemeClr val="bg1"/>
                </a:solidFill>
              </a:rPr>
              <a:t>Delta Lake por dentro</a:t>
            </a:r>
            <a:endParaRPr lang="en-US" sz="4000" dirty="0"/>
          </a:p>
        </p:txBody>
      </p:sp>
      <p:sp>
        <p:nvSpPr>
          <p:cNvPr id="4" name="Text 0"/>
          <p:cNvSpPr>
            <a:spLocks noGrp="1"/>
          </p:cNvSpPr>
          <p:nvPr>
            <p:ph type="body" idx="101" hasCustomPrompt="1"/>
          </p:nvPr>
        </p:nvSpPr>
        <p:spPr>
          <a:xfrm>
            <a:off x="548640" y="3840480"/>
            <a:ext cx="10058400" cy="731520"/>
          </a:xfrm>
          <a:prstGeom prst="rect">
            <a:avLst/>
          </a:prstGeom>
          <a:noFill/>
          <a:ln/>
        </p:spPr>
        <p:txBody>
          <a:bodyPr wrap="square" lIns="0" tIns="0" rIns="0" bIns="0" rtlCol="0"/>
          <a:lstStyle/>
          <a:p>
            <a:pPr marL="0" indent="0">
              <a:buNone/>
            </a:pPr>
            <a:r>
              <a:rPr lang="en-US" sz="1800" dirty="0">
                <a:solidFill>
                  <a:schemeClr val="bg2"/>
                </a:solidFill>
              </a:rPr>
              <a:t>El formato detrás de casi todas las tablas de Databricks</a:t>
            </a:r>
            <a:endParaRPr lang="en-US" sz="1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El lakehouse une data lake y data warehouse</a:t>
            </a:r>
            <a:endParaRPr lang="en-US" sz="3000" dirty="0"/>
          </a:p>
        </p:txBody>
      </p:sp>
      <p:sp>
        <p:nvSpPr>
          <p:cNvPr id="3" name="Tarjeta Data lake"/>
          <p:cNvSpPr/>
          <p:nvPr/>
        </p:nvSpPr>
        <p:spPr>
          <a:xfrm>
            <a:off x="548640" y="1828800"/>
            <a:ext cx="3291840" cy="3474720"/>
          </a:xfrm>
          <a:prstGeom prst="roundRect">
            <a:avLst>
              <a:gd name="adj" fmla="val 3333"/>
            </a:avLst>
          </a:prstGeom>
          <a:solidFill>
            <a:schemeClr val="bg2"/>
          </a:solidFill>
          <a:ln w="12700">
            <a:solidFill>
              <a:schemeClr val="bg2"/>
            </a:solidFill>
            <a:prstDash val="solid"/>
          </a:ln>
        </p:spPr>
      </p:sp>
      <p:sp>
        <p:nvSpPr>
          <p:cNvPr id="4" name="Data lake círculo"/>
          <p:cNvSpPr/>
          <p:nvPr/>
        </p:nvSpPr>
        <p:spPr>
          <a:xfrm>
            <a:off x="868680" y="2148840"/>
            <a:ext cx="822960" cy="822960"/>
          </a:xfrm>
          <a:prstGeom prst="ellipse">
            <a:avLst/>
          </a:prstGeom>
          <a:solidFill>
            <a:schemeClr val="accent4"/>
          </a:solidFill>
          <a:ln w="12700">
            <a:solidFill>
              <a:schemeClr val="accent4"/>
            </a:solidFill>
            <a:prstDash val="solid"/>
          </a:ln>
        </p:spPr>
      </p:sp>
      <p:pic>
        <p:nvPicPr>
          <p:cNvPr id="5" name="Data lake ícono" descr="preencoded.png"/>
          <p:cNvPicPr>
            <a:picLocks noChangeAspect="1"/>
          </p:cNvPicPr>
          <p:nvPr/>
        </p:nvPicPr>
        <p:blipFill>
          <a:blip r:embed="rId3"/>
          <a:stretch>
            <a:fillRect/>
          </a:stretch>
        </p:blipFill>
        <p:spPr>
          <a:xfrm>
            <a:off x="1082650" y="2362810"/>
            <a:ext cx="395021" cy="395021"/>
          </a:xfrm>
          <a:prstGeom prst="rect">
            <a:avLst/>
          </a:prstGeom>
        </p:spPr>
      </p:pic>
      <p:sp>
        <p:nvSpPr>
          <p:cNvPr id="6" name="Data lake título"/>
          <p:cNvSpPr txBox="1"/>
          <p:nvPr/>
        </p:nvSpPr>
        <p:spPr>
          <a:xfrm>
            <a:off x="868680" y="3200400"/>
            <a:ext cx="2651760" cy="457200"/>
          </a:xfrm>
          <a:prstGeom prst="rect">
            <a:avLst/>
          </a:prstGeom>
          <a:noFill/>
          <a:ln/>
        </p:spPr>
        <p:txBody>
          <a:bodyPr wrap="square" lIns="0" tIns="0" rIns="0" bIns="0" rtlCol="0" anchor="t"/>
          <a:lstStyle/>
          <a:p>
            <a:pPr marL="0" indent="0">
              <a:buNone/>
            </a:pPr>
            <a:r>
              <a:rPr lang="en-US" sz="2200" b="1" dirty="0">
                <a:solidFill>
                  <a:schemeClr val="tx1"/>
                </a:solidFill>
              </a:rPr>
              <a:t>Data lake</a:t>
            </a:r>
            <a:endParaRPr lang="en-US" sz="2200" dirty="0"/>
          </a:p>
        </p:txBody>
      </p:sp>
      <p:sp>
        <p:nvSpPr>
          <p:cNvPr id="7" name="Data lake texto"/>
          <p:cNvSpPr txBox="1"/>
          <p:nvPr/>
        </p:nvSpPr>
        <p:spPr>
          <a:xfrm>
            <a:off x="868680" y="3749040"/>
            <a:ext cx="2651760" cy="1371600"/>
          </a:xfrm>
          <a:prstGeom prst="rect">
            <a:avLst/>
          </a:prstGeom>
          <a:noFill/>
          <a:ln/>
        </p:spPr>
        <p:txBody>
          <a:bodyPr wrap="square" lIns="0" tIns="0" rIns="0" bIns="0" rtlCol="0" anchor="t"/>
          <a:lstStyle/>
          <a:p>
            <a:pPr marL="0" indent="0">
              <a:buNone/>
            </a:pPr>
            <a:r>
              <a:rPr lang="en-US" sz="1500" dirty="0">
                <a:solidFill>
                  <a:schemeClr val="tx1"/>
                </a:solidFill>
              </a:rPr>
              <a:t>Almacenamiento barato y en formatos abiertos, pero sin transacciones ni esquemas confiables</a:t>
            </a:r>
            <a:endParaRPr lang="en-US" sz="1500" dirty="0"/>
          </a:p>
        </p:txBody>
      </p:sp>
      <p:sp>
        <p:nvSpPr>
          <p:cNvPr id="8" name="Signo 0"/>
          <p:cNvSpPr txBox="1"/>
          <p:nvPr/>
        </p:nvSpPr>
        <p:spPr>
          <a:xfrm>
            <a:off x="3886200" y="3200400"/>
            <a:ext cx="457200" cy="640080"/>
          </a:xfrm>
          <a:prstGeom prst="rect">
            <a:avLst/>
          </a:prstGeom>
          <a:noFill/>
          <a:ln/>
        </p:spPr>
        <p:txBody>
          <a:bodyPr wrap="square" lIns="0" tIns="0" rIns="0" bIns="0" rtlCol="0" anchor="t"/>
          <a:lstStyle/>
          <a:p>
            <a:pPr marL="0" indent="0" algn="ctr">
              <a:buNone/>
            </a:pPr>
            <a:r>
              <a:rPr lang="en-US" sz="3600" b="1" dirty="0">
                <a:solidFill>
                  <a:schemeClr val="accent4"/>
                </a:solidFill>
              </a:rPr>
              <a:t>+</a:t>
            </a:r>
            <a:endParaRPr lang="en-US" sz="3600" dirty="0"/>
          </a:p>
        </p:txBody>
      </p:sp>
      <p:sp>
        <p:nvSpPr>
          <p:cNvPr id="9" name="Tarjeta Data warehouse"/>
          <p:cNvSpPr/>
          <p:nvPr/>
        </p:nvSpPr>
        <p:spPr>
          <a:xfrm>
            <a:off x="4389120" y="1828800"/>
            <a:ext cx="3291840" cy="3474720"/>
          </a:xfrm>
          <a:prstGeom prst="roundRect">
            <a:avLst>
              <a:gd name="adj" fmla="val 3333"/>
            </a:avLst>
          </a:prstGeom>
          <a:solidFill>
            <a:schemeClr val="bg2"/>
          </a:solidFill>
          <a:ln w="12700">
            <a:solidFill>
              <a:schemeClr val="bg2"/>
            </a:solidFill>
            <a:prstDash val="solid"/>
          </a:ln>
        </p:spPr>
      </p:sp>
      <p:sp>
        <p:nvSpPr>
          <p:cNvPr id="10" name="Data warehouse círculo"/>
          <p:cNvSpPr/>
          <p:nvPr/>
        </p:nvSpPr>
        <p:spPr>
          <a:xfrm>
            <a:off x="4709160" y="2148840"/>
            <a:ext cx="822960" cy="822960"/>
          </a:xfrm>
          <a:prstGeom prst="ellipse">
            <a:avLst/>
          </a:prstGeom>
          <a:solidFill>
            <a:schemeClr val="accent4"/>
          </a:solidFill>
          <a:ln w="12700">
            <a:solidFill>
              <a:schemeClr val="accent4"/>
            </a:solidFill>
            <a:prstDash val="solid"/>
          </a:ln>
        </p:spPr>
      </p:sp>
      <p:pic>
        <p:nvPicPr>
          <p:cNvPr id="11" name="Data warehouse ícono" descr="preencoded.png"/>
          <p:cNvPicPr>
            <a:picLocks noChangeAspect="1"/>
          </p:cNvPicPr>
          <p:nvPr/>
        </p:nvPicPr>
        <p:blipFill>
          <a:blip r:embed="rId4"/>
          <a:stretch>
            <a:fillRect/>
          </a:stretch>
        </p:blipFill>
        <p:spPr>
          <a:xfrm>
            <a:off x="4923130" y="2362810"/>
            <a:ext cx="395021" cy="395021"/>
          </a:xfrm>
          <a:prstGeom prst="rect">
            <a:avLst/>
          </a:prstGeom>
        </p:spPr>
      </p:pic>
      <p:sp>
        <p:nvSpPr>
          <p:cNvPr id="12" name="Data warehouse título"/>
          <p:cNvSpPr txBox="1"/>
          <p:nvPr/>
        </p:nvSpPr>
        <p:spPr>
          <a:xfrm>
            <a:off x="4709160" y="3200400"/>
            <a:ext cx="2651760" cy="457200"/>
          </a:xfrm>
          <a:prstGeom prst="rect">
            <a:avLst/>
          </a:prstGeom>
          <a:noFill/>
          <a:ln/>
        </p:spPr>
        <p:txBody>
          <a:bodyPr wrap="square" lIns="0" tIns="0" rIns="0" bIns="0" rtlCol="0" anchor="t"/>
          <a:lstStyle/>
          <a:p>
            <a:pPr marL="0" indent="0">
              <a:buNone/>
            </a:pPr>
            <a:r>
              <a:rPr lang="en-US" sz="2200" b="1" dirty="0">
                <a:solidFill>
                  <a:schemeClr val="tx1"/>
                </a:solidFill>
              </a:rPr>
              <a:t>Data warehouse</a:t>
            </a:r>
            <a:endParaRPr lang="en-US" sz="2200" dirty="0"/>
          </a:p>
        </p:txBody>
      </p:sp>
      <p:sp>
        <p:nvSpPr>
          <p:cNvPr id="13" name="Data warehouse texto"/>
          <p:cNvSpPr txBox="1"/>
          <p:nvPr/>
        </p:nvSpPr>
        <p:spPr>
          <a:xfrm>
            <a:off x="4709160" y="3749040"/>
            <a:ext cx="2651760" cy="1371600"/>
          </a:xfrm>
          <a:prstGeom prst="rect">
            <a:avLst/>
          </a:prstGeom>
          <a:noFill/>
          <a:ln/>
        </p:spPr>
        <p:txBody>
          <a:bodyPr wrap="square" lIns="0" tIns="0" rIns="0" bIns="0" rtlCol="0" anchor="t"/>
          <a:lstStyle/>
          <a:p>
            <a:pPr marL="0" indent="0">
              <a:buNone/>
            </a:pPr>
            <a:r>
              <a:rPr lang="en-US" sz="1500" dirty="0">
                <a:solidFill>
                  <a:schemeClr val="tx1"/>
                </a:solidFill>
              </a:rPr>
              <a:t>Transacciones, esquemas y gobierno, pero caro y con formatos propietarios</a:t>
            </a:r>
            <a:endParaRPr lang="en-US" sz="1500" dirty="0"/>
          </a:p>
        </p:txBody>
      </p:sp>
      <p:sp>
        <p:nvSpPr>
          <p:cNvPr id="14" name="Signo 1"/>
          <p:cNvSpPr txBox="1"/>
          <p:nvPr/>
        </p:nvSpPr>
        <p:spPr>
          <a:xfrm>
            <a:off x="7726680" y="3200400"/>
            <a:ext cx="457200" cy="640080"/>
          </a:xfrm>
          <a:prstGeom prst="rect">
            <a:avLst/>
          </a:prstGeom>
          <a:noFill/>
          <a:ln/>
        </p:spPr>
        <p:txBody>
          <a:bodyPr wrap="square" lIns="0" tIns="0" rIns="0" bIns="0" rtlCol="0" anchor="t"/>
          <a:lstStyle/>
          <a:p>
            <a:pPr marL="0" indent="0" algn="ctr">
              <a:buNone/>
            </a:pPr>
            <a:r>
              <a:rPr lang="en-US" sz="3600" b="1" dirty="0">
                <a:solidFill>
                  <a:schemeClr val="accent4"/>
                </a:solidFill>
              </a:rPr>
              <a:t>=</a:t>
            </a:r>
            <a:endParaRPr lang="en-US" sz="3600" dirty="0"/>
          </a:p>
        </p:txBody>
      </p:sp>
      <p:sp>
        <p:nvSpPr>
          <p:cNvPr id="15" name="Tarjeta Lakehouse"/>
          <p:cNvSpPr/>
          <p:nvPr/>
        </p:nvSpPr>
        <p:spPr>
          <a:xfrm>
            <a:off x="8229600" y="1828800"/>
            <a:ext cx="3291840" cy="3474720"/>
          </a:xfrm>
          <a:prstGeom prst="roundRect">
            <a:avLst>
              <a:gd name="adj" fmla="val 3333"/>
            </a:avLst>
          </a:prstGeom>
          <a:solidFill>
            <a:schemeClr val="tx2"/>
          </a:solidFill>
          <a:ln w="12700">
            <a:solidFill>
              <a:schemeClr val="tx2"/>
            </a:solidFill>
            <a:prstDash val="solid"/>
          </a:ln>
        </p:spPr>
      </p:sp>
      <p:sp>
        <p:nvSpPr>
          <p:cNvPr id="16" name="Lakehouse círculo"/>
          <p:cNvSpPr/>
          <p:nvPr/>
        </p:nvSpPr>
        <p:spPr>
          <a:xfrm>
            <a:off x="8549640" y="2148840"/>
            <a:ext cx="822960" cy="822960"/>
          </a:xfrm>
          <a:prstGeom prst="ellipse">
            <a:avLst/>
          </a:prstGeom>
          <a:solidFill>
            <a:schemeClr val="accent2"/>
          </a:solidFill>
          <a:ln w="12700">
            <a:solidFill>
              <a:schemeClr val="accent2"/>
            </a:solidFill>
            <a:prstDash val="solid"/>
          </a:ln>
        </p:spPr>
      </p:sp>
      <p:pic>
        <p:nvPicPr>
          <p:cNvPr id="17" name="Lakehouse ícono" descr="preencoded.png"/>
          <p:cNvPicPr>
            <a:picLocks noChangeAspect="1"/>
          </p:cNvPicPr>
          <p:nvPr/>
        </p:nvPicPr>
        <p:blipFill>
          <a:blip r:embed="rId5"/>
          <a:stretch>
            <a:fillRect/>
          </a:stretch>
        </p:blipFill>
        <p:spPr>
          <a:xfrm>
            <a:off x="8763610" y="2362810"/>
            <a:ext cx="395021" cy="395021"/>
          </a:xfrm>
          <a:prstGeom prst="rect">
            <a:avLst/>
          </a:prstGeom>
        </p:spPr>
      </p:pic>
      <p:sp>
        <p:nvSpPr>
          <p:cNvPr id="18" name="Lakehouse título"/>
          <p:cNvSpPr txBox="1"/>
          <p:nvPr/>
        </p:nvSpPr>
        <p:spPr>
          <a:xfrm>
            <a:off x="8549640" y="3200400"/>
            <a:ext cx="2651760" cy="457200"/>
          </a:xfrm>
          <a:prstGeom prst="rect">
            <a:avLst/>
          </a:prstGeom>
          <a:noFill/>
          <a:ln/>
        </p:spPr>
        <p:txBody>
          <a:bodyPr wrap="square" lIns="0" tIns="0" rIns="0" bIns="0" rtlCol="0" anchor="t"/>
          <a:lstStyle/>
          <a:p>
            <a:pPr marL="0" indent="0">
              <a:buNone/>
            </a:pPr>
            <a:r>
              <a:rPr lang="en-US" sz="2200" b="1" dirty="0">
                <a:solidFill>
                  <a:schemeClr val="bg1"/>
                </a:solidFill>
              </a:rPr>
              <a:t>Lakehouse</a:t>
            </a:r>
            <a:endParaRPr lang="en-US" sz="2200" dirty="0"/>
          </a:p>
        </p:txBody>
      </p:sp>
      <p:sp>
        <p:nvSpPr>
          <p:cNvPr id="19" name="Lakehouse texto"/>
          <p:cNvSpPr txBox="1"/>
          <p:nvPr/>
        </p:nvSpPr>
        <p:spPr>
          <a:xfrm>
            <a:off x="8549640" y="3749040"/>
            <a:ext cx="2651760" cy="1371600"/>
          </a:xfrm>
          <a:prstGeom prst="rect">
            <a:avLst/>
          </a:prstGeom>
          <a:noFill/>
          <a:ln/>
        </p:spPr>
        <p:txBody>
          <a:bodyPr wrap="square" lIns="0" tIns="0" rIns="0" bIns="0" rtlCol="0" anchor="t"/>
          <a:lstStyle/>
          <a:p>
            <a:pPr marL="0" indent="0">
              <a:buNone/>
            </a:pPr>
            <a:r>
              <a:rPr lang="en-US" sz="1500" dirty="0">
                <a:solidFill>
                  <a:schemeClr val="bg2"/>
                </a:solidFill>
              </a:rPr>
              <a:t>Archivos abiertos en la nube con transacciones, esquemas y permisos. Delta Lake lo hace posible</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Una tabla Delta: archivos Parquet y un registro de cambios</a:t>
            </a:r>
            <a:endParaRPr lang="en-US" sz="3000" dirty="0"/>
          </a:p>
        </p:txBody>
      </p:sp>
      <p:sp>
        <p:nvSpPr>
          <p:cNvPr id="3" name="Carpeta de la tabla"/>
          <p:cNvSpPr/>
          <p:nvPr/>
        </p:nvSpPr>
        <p:spPr>
          <a:xfrm>
            <a:off x="548640" y="1554480"/>
            <a:ext cx="5120640" cy="4480560"/>
          </a:xfrm>
          <a:prstGeom prst="roundRect">
            <a:avLst>
              <a:gd name="adj" fmla="val 2449"/>
            </a:avLst>
          </a:prstGeom>
          <a:solidFill>
            <a:schemeClr val="bg2"/>
          </a:solidFill>
          <a:ln w="12700">
            <a:solidFill>
              <a:schemeClr val="bg2"/>
            </a:solidFill>
            <a:prstDash val="solid"/>
          </a:ln>
        </p:spPr>
      </p:sp>
      <p:sp>
        <p:nvSpPr>
          <p:cNvPr id="4" name="Carpeta título"/>
          <p:cNvSpPr txBox="1"/>
          <p:nvPr/>
        </p:nvSpPr>
        <p:spPr>
          <a:xfrm>
            <a:off x="868680" y="1783080"/>
            <a:ext cx="4572000" cy="365760"/>
          </a:xfrm>
          <a:prstGeom prst="rect">
            <a:avLst/>
          </a:prstGeom>
          <a:noFill/>
          <a:ln/>
        </p:spPr>
        <p:txBody>
          <a:bodyPr wrap="square" lIns="0" tIns="0" rIns="0" bIns="0" rtlCol="0" anchor="t"/>
          <a:lstStyle/>
          <a:p>
            <a:pPr marL="0" indent="0">
              <a:buNone/>
            </a:pPr>
            <a:r>
              <a:rPr lang="en-US" sz="1600" b="1" dirty="0">
                <a:solidFill>
                  <a:schemeClr val="tx1"/>
                </a:solidFill>
                <a:latin typeface="Courier New" pitchFamily="34" charset="0"/>
                <a:ea typeface="Courier New" pitchFamily="34" charset="-122"/>
                <a:cs typeface="Courier New" pitchFamily="34" charset="-120"/>
              </a:rPr>
              <a:t>transacciones/</a:t>
            </a:r>
            <a:endParaRPr lang="en-US" sz="1600" dirty="0"/>
          </a:p>
        </p:txBody>
      </p:sp>
      <p:sp>
        <p:nvSpPr>
          <p:cNvPr id="5" name="Archivo 0"/>
          <p:cNvSpPr txBox="1"/>
          <p:nvPr/>
        </p:nvSpPr>
        <p:spPr>
          <a:xfrm>
            <a:off x="1051560" y="2331720"/>
            <a:ext cx="4572000" cy="365760"/>
          </a:xfrm>
          <a:prstGeom prst="rect">
            <a:avLst/>
          </a:prstGeom>
          <a:noFill/>
          <a:ln/>
        </p:spPr>
        <p:txBody>
          <a:bodyPr wrap="square" lIns="0" tIns="0" rIns="0" bIns="0" rtlCol="0" anchor="t"/>
          <a:lstStyle/>
          <a:p>
            <a:pPr marL="0" indent="0">
              <a:buNone/>
            </a:pPr>
            <a:r>
              <a:rPr lang="en-US" sz="1400" b="1" dirty="0">
                <a:solidFill>
                  <a:schemeClr val="accent2"/>
                </a:solidFill>
                <a:latin typeface="Courier New" pitchFamily="34" charset="0"/>
                <a:ea typeface="Courier New" pitchFamily="34" charset="-122"/>
                <a:cs typeface="Courier New" pitchFamily="34" charset="-120"/>
              </a:rPr>
              <a:t>_delta_log/</a:t>
            </a:r>
            <a:endParaRPr lang="en-US" sz="1400" dirty="0"/>
          </a:p>
        </p:txBody>
      </p:sp>
      <p:sp>
        <p:nvSpPr>
          <p:cNvPr id="6" name="Archivo 1"/>
          <p:cNvSpPr txBox="1"/>
          <p:nvPr/>
        </p:nvSpPr>
        <p:spPr>
          <a:xfrm>
            <a:off x="1051560" y="2880360"/>
            <a:ext cx="4572000" cy="365760"/>
          </a:xfrm>
          <a:prstGeom prst="rect">
            <a:avLst/>
          </a:prstGeom>
          <a:noFill/>
          <a:ln/>
        </p:spPr>
        <p:txBody>
          <a:bodyPr wrap="square" lIns="0" tIns="0" rIns="0" bIns="0" rtlCol="0" anchor="t"/>
          <a:lstStyle/>
          <a:p>
            <a:pPr marL="0" indent="0">
              <a:buNone/>
            </a:pPr>
            <a:r>
              <a:rPr lang="en-US" sz="1400" dirty="0">
                <a:solidFill>
                  <a:schemeClr val="accent2"/>
                </a:solidFill>
                <a:latin typeface="Courier New" pitchFamily="34" charset="0"/>
                <a:ea typeface="Courier New" pitchFamily="34" charset="-122"/>
                <a:cs typeface="Courier New" pitchFamily="34" charset="-120"/>
              </a:rPr>
              <a:t>   00000000000000000000.json</a:t>
            </a:r>
            <a:endParaRPr lang="en-US" sz="1400" dirty="0"/>
          </a:p>
        </p:txBody>
      </p:sp>
      <p:sp>
        <p:nvSpPr>
          <p:cNvPr id="7" name="Archivo 2"/>
          <p:cNvSpPr txBox="1"/>
          <p:nvPr/>
        </p:nvSpPr>
        <p:spPr>
          <a:xfrm>
            <a:off x="1051560" y="3429000"/>
            <a:ext cx="4572000" cy="365760"/>
          </a:xfrm>
          <a:prstGeom prst="rect">
            <a:avLst/>
          </a:prstGeom>
          <a:noFill/>
          <a:ln/>
        </p:spPr>
        <p:txBody>
          <a:bodyPr wrap="square" lIns="0" tIns="0" rIns="0" bIns="0" rtlCol="0" anchor="t"/>
          <a:lstStyle/>
          <a:p>
            <a:pPr marL="0" indent="0">
              <a:buNone/>
            </a:pPr>
            <a:r>
              <a:rPr lang="en-US" sz="1400" dirty="0">
                <a:solidFill>
                  <a:schemeClr val="accent2"/>
                </a:solidFill>
                <a:latin typeface="Courier New" pitchFamily="34" charset="0"/>
                <a:ea typeface="Courier New" pitchFamily="34" charset="-122"/>
                <a:cs typeface="Courier New" pitchFamily="34" charset="-120"/>
              </a:rPr>
              <a:t>   00000000000000000001.json</a:t>
            </a:r>
            <a:endParaRPr lang="en-US" sz="1400" dirty="0"/>
          </a:p>
        </p:txBody>
      </p:sp>
      <p:sp>
        <p:nvSpPr>
          <p:cNvPr id="8" name="Archivo 3"/>
          <p:cNvSpPr txBox="1"/>
          <p:nvPr/>
        </p:nvSpPr>
        <p:spPr>
          <a:xfrm>
            <a:off x="1051560" y="3977640"/>
            <a:ext cx="4572000" cy="365760"/>
          </a:xfrm>
          <a:prstGeom prst="rect">
            <a:avLst/>
          </a:prstGeom>
          <a:noFill/>
          <a:ln/>
        </p:spPr>
        <p:txBody>
          <a:bodyPr wrap="square" lIns="0" tIns="0" rIns="0" bIns="0" rtlCol="0" anchor="t"/>
          <a:lstStyle/>
          <a:p>
            <a:pPr marL="0" indent="0">
              <a:buNone/>
            </a:pPr>
            <a:r>
              <a:rPr lang="en-US" sz="1400" dirty="0">
                <a:solidFill>
                  <a:schemeClr val="accent2"/>
                </a:solidFill>
                <a:latin typeface="Courier New" pitchFamily="34" charset="0"/>
                <a:ea typeface="Courier New" pitchFamily="34" charset="-122"/>
                <a:cs typeface="Courier New" pitchFamily="34" charset="-120"/>
              </a:rPr>
              <a:t>   00000000000000000002.json</a:t>
            </a:r>
            <a:endParaRPr lang="en-US" sz="1400" dirty="0"/>
          </a:p>
        </p:txBody>
      </p:sp>
      <p:sp>
        <p:nvSpPr>
          <p:cNvPr id="9" name="Archivo 4"/>
          <p:cNvSpPr txBox="1"/>
          <p:nvPr/>
        </p:nvSpPr>
        <p:spPr>
          <a:xfrm>
            <a:off x="1051560" y="4526280"/>
            <a:ext cx="4572000" cy="36576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part-00000-….snappy.parquet</a:t>
            </a:r>
            <a:endParaRPr lang="en-US" sz="1400" dirty="0"/>
          </a:p>
        </p:txBody>
      </p:sp>
      <p:sp>
        <p:nvSpPr>
          <p:cNvPr id="10" name="Archivo 5"/>
          <p:cNvSpPr txBox="1"/>
          <p:nvPr/>
        </p:nvSpPr>
        <p:spPr>
          <a:xfrm>
            <a:off x="1051560" y="5074920"/>
            <a:ext cx="4572000" cy="36576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part-00001-….snappy.parquet</a:t>
            </a:r>
            <a:endParaRPr lang="en-US" sz="1400" dirty="0"/>
          </a:p>
        </p:txBody>
      </p:sp>
      <p:sp>
        <p:nvSpPr>
          <p:cNvPr id="11" name="Archivos Parquet círculo"/>
          <p:cNvSpPr/>
          <p:nvPr/>
        </p:nvSpPr>
        <p:spPr>
          <a:xfrm>
            <a:off x="6309360" y="1600200"/>
            <a:ext cx="685800" cy="685800"/>
          </a:xfrm>
          <a:prstGeom prst="ellipse">
            <a:avLst/>
          </a:prstGeom>
          <a:solidFill>
            <a:schemeClr val="tx2"/>
          </a:solidFill>
          <a:ln w="12700">
            <a:solidFill>
              <a:schemeClr val="tx2"/>
            </a:solidFill>
            <a:prstDash val="solid"/>
          </a:ln>
        </p:spPr>
      </p:sp>
      <p:pic>
        <p:nvPicPr>
          <p:cNvPr id="12" name="Archivos Parquet ícono" descr="preencoded.png"/>
          <p:cNvPicPr>
            <a:picLocks noChangeAspect="1"/>
          </p:cNvPicPr>
          <p:nvPr/>
        </p:nvPicPr>
        <p:blipFill>
          <a:blip r:embed="rId3"/>
          <a:stretch>
            <a:fillRect/>
          </a:stretch>
        </p:blipFill>
        <p:spPr>
          <a:xfrm>
            <a:off x="6487668" y="1778508"/>
            <a:ext cx="329184" cy="329184"/>
          </a:xfrm>
          <a:prstGeom prst="rect">
            <a:avLst/>
          </a:prstGeom>
        </p:spPr>
      </p:pic>
      <p:sp>
        <p:nvSpPr>
          <p:cNvPr id="13" name="Archivos Parquet título"/>
          <p:cNvSpPr txBox="1"/>
          <p:nvPr/>
        </p:nvSpPr>
        <p:spPr>
          <a:xfrm>
            <a:off x="7223760" y="1600200"/>
            <a:ext cx="4389120" cy="365760"/>
          </a:xfrm>
          <a:prstGeom prst="rect">
            <a:avLst/>
          </a:prstGeom>
          <a:noFill/>
          <a:ln/>
        </p:spPr>
        <p:txBody>
          <a:bodyPr wrap="square" lIns="0" tIns="0" rIns="0" bIns="0" rtlCol="0" anchor="t"/>
          <a:lstStyle/>
          <a:p>
            <a:pPr marL="0" indent="0">
              <a:buNone/>
            </a:pPr>
            <a:r>
              <a:rPr lang="en-US" sz="1800" b="1" dirty="0">
                <a:solidFill>
                  <a:schemeClr val="tx1"/>
                </a:solidFill>
              </a:rPr>
              <a:t>Archivos Parquet</a:t>
            </a:r>
            <a:endParaRPr lang="en-US" sz="1800" dirty="0"/>
          </a:p>
        </p:txBody>
      </p:sp>
      <p:sp>
        <p:nvSpPr>
          <p:cNvPr id="14" name="Archivos Parquet texto"/>
          <p:cNvSpPr txBox="1"/>
          <p:nvPr/>
        </p:nvSpPr>
        <p:spPr>
          <a:xfrm>
            <a:off x="7223760" y="2011680"/>
            <a:ext cx="4389120" cy="914400"/>
          </a:xfrm>
          <a:prstGeom prst="rect">
            <a:avLst/>
          </a:prstGeom>
          <a:noFill/>
          <a:ln/>
        </p:spPr>
        <p:txBody>
          <a:bodyPr wrap="square" lIns="0" tIns="0" rIns="0" bIns="0" rtlCol="0" anchor="t"/>
          <a:lstStyle/>
          <a:p>
            <a:pPr marL="0" indent="0">
              <a:buNone/>
            </a:pPr>
            <a:r>
              <a:rPr lang="en-US" sz="1400" dirty="0">
                <a:solidFill>
                  <a:schemeClr val="accent4"/>
                </a:solidFill>
              </a:rPr>
              <a:t>Los datos, en formato columnar y abierto. Nunca se modifican: cada cambio escribe archivos nuevos.</a:t>
            </a:r>
            <a:endParaRPr lang="en-US" sz="1400" dirty="0"/>
          </a:p>
        </p:txBody>
      </p:sp>
      <p:sp>
        <p:nvSpPr>
          <p:cNvPr id="15" name="_delta_log círculo"/>
          <p:cNvSpPr/>
          <p:nvPr/>
        </p:nvSpPr>
        <p:spPr>
          <a:xfrm>
            <a:off x="6309360" y="3108960"/>
            <a:ext cx="685800" cy="685800"/>
          </a:xfrm>
          <a:prstGeom prst="ellipse">
            <a:avLst/>
          </a:prstGeom>
          <a:solidFill>
            <a:schemeClr val="accent2"/>
          </a:solidFill>
          <a:ln w="12700">
            <a:solidFill>
              <a:schemeClr val="accent2"/>
            </a:solidFill>
            <a:prstDash val="solid"/>
          </a:ln>
        </p:spPr>
      </p:sp>
      <p:pic>
        <p:nvPicPr>
          <p:cNvPr id="16" name="_delta_log ícono" descr="preencoded.png"/>
          <p:cNvPicPr>
            <a:picLocks noChangeAspect="1"/>
          </p:cNvPicPr>
          <p:nvPr/>
        </p:nvPicPr>
        <p:blipFill>
          <a:blip r:embed="rId4"/>
          <a:stretch>
            <a:fillRect/>
          </a:stretch>
        </p:blipFill>
        <p:spPr>
          <a:xfrm>
            <a:off x="6487668" y="3287268"/>
            <a:ext cx="329184" cy="329184"/>
          </a:xfrm>
          <a:prstGeom prst="rect">
            <a:avLst/>
          </a:prstGeom>
        </p:spPr>
      </p:pic>
      <p:sp>
        <p:nvSpPr>
          <p:cNvPr id="17" name="_delta_log título"/>
          <p:cNvSpPr txBox="1"/>
          <p:nvPr/>
        </p:nvSpPr>
        <p:spPr>
          <a:xfrm>
            <a:off x="7223760" y="3108960"/>
            <a:ext cx="4389120" cy="365760"/>
          </a:xfrm>
          <a:prstGeom prst="rect">
            <a:avLst/>
          </a:prstGeom>
          <a:noFill/>
          <a:ln/>
        </p:spPr>
        <p:txBody>
          <a:bodyPr wrap="square" lIns="0" tIns="0" rIns="0" bIns="0" rtlCol="0" anchor="t"/>
          <a:lstStyle/>
          <a:p>
            <a:pPr marL="0" indent="0">
              <a:buNone/>
            </a:pPr>
            <a:r>
              <a:rPr lang="en-US" sz="1800" b="1" dirty="0">
                <a:solidFill>
                  <a:schemeClr val="tx1"/>
                </a:solidFill>
              </a:rPr>
              <a:t>_delta_log</a:t>
            </a:r>
            <a:endParaRPr lang="en-US" sz="1800" dirty="0"/>
          </a:p>
        </p:txBody>
      </p:sp>
      <p:sp>
        <p:nvSpPr>
          <p:cNvPr id="18" name="_delta_log texto"/>
          <p:cNvSpPr txBox="1"/>
          <p:nvPr/>
        </p:nvSpPr>
        <p:spPr>
          <a:xfrm>
            <a:off x="7223760" y="3520440"/>
            <a:ext cx="4389120" cy="914400"/>
          </a:xfrm>
          <a:prstGeom prst="rect">
            <a:avLst/>
          </a:prstGeom>
          <a:noFill/>
          <a:ln/>
        </p:spPr>
        <p:txBody>
          <a:bodyPr wrap="square" lIns="0" tIns="0" rIns="0" bIns="0" rtlCol="0" anchor="t"/>
          <a:lstStyle/>
          <a:p>
            <a:pPr marL="0" indent="0">
              <a:buNone/>
            </a:pPr>
            <a:r>
              <a:rPr lang="en-US" sz="1400" dirty="0">
                <a:solidFill>
                  <a:schemeClr val="accent4"/>
                </a:solidFill>
              </a:rPr>
              <a:t>Un JSON por commit: qué archivos se agregaron y cuáles dejaron de usarse. Cada commit es una versión.</a:t>
            </a:r>
            <a:endParaRPr lang="en-US" sz="1400" dirty="0"/>
          </a:p>
        </p:txBody>
      </p:sp>
      <p:sp>
        <p:nvSpPr>
          <p:cNvPr id="19" name="Checkpoint círculo"/>
          <p:cNvSpPr/>
          <p:nvPr/>
        </p:nvSpPr>
        <p:spPr>
          <a:xfrm>
            <a:off x="6309360" y="4617720"/>
            <a:ext cx="685800" cy="685800"/>
          </a:xfrm>
          <a:prstGeom prst="ellipse">
            <a:avLst/>
          </a:prstGeom>
          <a:solidFill>
            <a:schemeClr val="tx2"/>
          </a:solidFill>
          <a:ln w="12700">
            <a:solidFill>
              <a:schemeClr val="tx2"/>
            </a:solidFill>
            <a:prstDash val="solid"/>
          </a:ln>
        </p:spPr>
      </p:sp>
      <p:pic>
        <p:nvPicPr>
          <p:cNvPr id="20" name="Checkpoint ícono" descr="preencoded.png"/>
          <p:cNvPicPr>
            <a:picLocks noChangeAspect="1"/>
          </p:cNvPicPr>
          <p:nvPr/>
        </p:nvPicPr>
        <p:blipFill>
          <a:blip r:embed="rId5"/>
          <a:stretch>
            <a:fillRect/>
          </a:stretch>
        </p:blipFill>
        <p:spPr>
          <a:xfrm>
            <a:off x="6487668" y="4796028"/>
            <a:ext cx="329184" cy="329184"/>
          </a:xfrm>
          <a:prstGeom prst="rect">
            <a:avLst/>
          </a:prstGeom>
        </p:spPr>
      </p:pic>
      <p:sp>
        <p:nvSpPr>
          <p:cNvPr id="21" name="Checkpoint título"/>
          <p:cNvSpPr txBox="1"/>
          <p:nvPr/>
        </p:nvSpPr>
        <p:spPr>
          <a:xfrm>
            <a:off x="7223760" y="4617720"/>
            <a:ext cx="4389120" cy="365760"/>
          </a:xfrm>
          <a:prstGeom prst="rect">
            <a:avLst/>
          </a:prstGeom>
          <a:noFill/>
          <a:ln/>
        </p:spPr>
        <p:txBody>
          <a:bodyPr wrap="square" lIns="0" tIns="0" rIns="0" bIns="0" rtlCol="0" anchor="t"/>
          <a:lstStyle/>
          <a:p>
            <a:pPr marL="0" indent="0">
              <a:buNone/>
            </a:pPr>
            <a:r>
              <a:rPr lang="en-US" sz="1800" b="1" dirty="0">
                <a:solidFill>
                  <a:schemeClr val="tx1"/>
                </a:solidFill>
              </a:rPr>
              <a:t>Checkpoint</a:t>
            </a:r>
            <a:endParaRPr lang="en-US" sz="1800" dirty="0"/>
          </a:p>
        </p:txBody>
      </p:sp>
      <p:sp>
        <p:nvSpPr>
          <p:cNvPr id="22" name="Checkpoint texto"/>
          <p:cNvSpPr txBox="1"/>
          <p:nvPr/>
        </p:nvSpPr>
        <p:spPr>
          <a:xfrm>
            <a:off x="7223760" y="5029200"/>
            <a:ext cx="4389120" cy="914400"/>
          </a:xfrm>
          <a:prstGeom prst="rect">
            <a:avLst/>
          </a:prstGeom>
          <a:noFill/>
          <a:ln/>
        </p:spPr>
        <p:txBody>
          <a:bodyPr wrap="square" lIns="0" tIns="0" rIns="0" bIns="0" rtlCol="0" anchor="t"/>
          <a:lstStyle/>
          <a:p>
            <a:pPr marL="0" indent="0">
              <a:buNone/>
            </a:pPr>
            <a:r>
              <a:rPr lang="en-US" sz="1400" dirty="0">
                <a:solidFill>
                  <a:schemeClr val="accent4"/>
                </a:solidFill>
              </a:rPr>
              <a:t>Cada cierta cantidad de commits, un resumen en Parquet para no leer todos los JSON.</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Cada cambio crea una versión nueva de la tabla</a:t>
            </a:r>
            <a:endParaRPr lang="en-US" sz="3000" dirty="0"/>
          </a:p>
        </p:txBody>
      </p:sp>
      <p:sp>
        <p:nvSpPr>
          <p:cNvPr id="3" name="Línea de tiempo"/>
          <p:cNvSpPr/>
          <p:nvPr/>
        </p:nvSpPr>
        <p:spPr>
          <a:xfrm>
            <a:off x="1005840" y="2240280"/>
            <a:ext cx="10058400" cy="0"/>
          </a:xfrm>
          <a:prstGeom prst="line">
            <a:avLst/>
          </a:prstGeom>
          <a:noFill/>
          <a:ln w="38100">
            <a:solidFill>
              <a:schemeClr val="accent5"/>
            </a:solidFill>
            <a:prstDash val="solid"/>
          </a:ln>
        </p:spPr>
      </p:sp>
      <p:sp>
        <p:nvSpPr>
          <p:cNvPr id="4" name="Versión v0"/>
          <p:cNvSpPr/>
          <p:nvPr/>
        </p:nvSpPr>
        <p:spPr>
          <a:xfrm>
            <a:off x="640080" y="1783080"/>
            <a:ext cx="914400" cy="914400"/>
          </a:xfrm>
          <a:prstGeom prst="ellipse">
            <a:avLst/>
          </a:prstGeom>
          <a:solidFill>
            <a:schemeClr val="tx2"/>
          </a:solidFill>
          <a:ln w="12700">
            <a:solidFill>
              <a:schemeClr val="tx2"/>
            </a:solidFill>
            <a:prstDash val="solid"/>
          </a:ln>
        </p:spPr>
      </p:sp>
      <p:sp>
        <p:nvSpPr>
          <p:cNvPr id="5" name="Versión texto v0"/>
          <p:cNvSpPr txBox="1"/>
          <p:nvPr/>
        </p:nvSpPr>
        <p:spPr>
          <a:xfrm>
            <a:off x="640080" y="1783080"/>
            <a:ext cx="914400" cy="914400"/>
          </a:xfrm>
          <a:prstGeom prst="rect">
            <a:avLst/>
          </a:prstGeom>
          <a:noFill/>
          <a:ln/>
        </p:spPr>
        <p:txBody>
          <a:bodyPr wrap="square" lIns="0" tIns="0" rIns="0" bIns="0" rtlCol="0" anchor="ctr"/>
          <a:lstStyle/>
          <a:p>
            <a:pPr marL="0" indent="0" algn="ctr">
              <a:buNone/>
            </a:pPr>
            <a:r>
              <a:rPr lang="en-US" sz="2000" b="1" dirty="0">
                <a:solidFill>
                  <a:schemeClr val="bg1"/>
                </a:solidFill>
              </a:rPr>
              <a:t>v0</a:t>
            </a:r>
            <a:endParaRPr lang="en-US" sz="2000" dirty="0"/>
          </a:p>
        </p:txBody>
      </p:sp>
      <p:sp>
        <p:nvSpPr>
          <p:cNvPr id="6" name="Operación v0"/>
          <p:cNvSpPr txBox="1"/>
          <p:nvPr/>
        </p:nvSpPr>
        <p:spPr>
          <a:xfrm>
            <a:off x="548640" y="2834640"/>
            <a:ext cx="2560320" cy="365760"/>
          </a:xfrm>
          <a:prstGeom prst="rect">
            <a:avLst/>
          </a:prstGeom>
          <a:noFill/>
          <a:ln/>
        </p:spPr>
        <p:txBody>
          <a:bodyPr wrap="square" lIns="0" tIns="0" rIns="0" bIns="0" rtlCol="0" anchor="t"/>
          <a:lstStyle/>
          <a:p>
            <a:pPr marL="0" indent="0">
              <a:buNone/>
            </a:pPr>
            <a:r>
              <a:rPr lang="en-US" sz="1600" b="1" dirty="0">
                <a:solidFill>
                  <a:schemeClr val="tx1"/>
                </a:solidFill>
              </a:rPr>
              <a:t>CREATE</a:t>
            </a:r>
            <a:endParaRPr lang="en-US" sz="1600" dirty="0"/>
          </a:p>
        </p:txBody>
      </p:sp>
      <p:sp>
        <p:nvSpPr>
          <p:cNvPr id="7" name="Detalle v0"/>
          <p:cNvSpPr txBox="1"/>
          <p:nvPr/>
        </p:nvSpPr>
        <p:spPr>
          <a:xfrm>
            <a:off x="548640" y="3200400"/>
            <a:ext cx="2560320" cy="365760"/>
          </a:xfrm>
          <a:prstGeom prst="rect">
            <a:avLst/>
          </a:prstGeom>
          <a:noFill/>
          <a:ln/>
        </p:spPr>
        <p:txBody>
          <a:bodyPr wrap="square" lIns="0" tIns="0" rIns="0" bIns="0" rtlCol="0" anchor="t"/>
          <a:lstStyle/>
          <a:p>
            <a:pPr marL="0" indent="0">
              <a:buNone/>
            </a:pPr>
            <a:r>
              <a:rPr lang="en-US" sz="1400" dirty="0">
                <a:solidFill>
                  <a:schemeClr val="accent4"/>
                </a:solidFill>
              </a:rPr>
              <a:t>1.000 filas</a:t>
            </a:r>
            <a:endParaRPr lang="en-US" sz="1400" dirty="0"/>
          </a:p>
        </p:txBody>
      </p:sp>
      <p:sp>
        <p:nvSpPr>
          <p:cNvPr id="8" name="Versión v1"/>
          <p:cNvSpPr/>
          <p:nvPr/>
        </p:nvSpPr>
        <p:spPr>
          <a:xfrm>
            <a:off x="3474720" y="1783080"/>
            <a:ext cx="914400" cy="914400"/>
          </a:xfrm>
          <a:prstGeom prst="ellipse">
            <a:avLst/>
          </a:prstGeom>
          <a:solidFill>
            <a:schemeClr val="tx2"/>
          </a:solidFill>
          <a:ln w="12700">
            <a:solidFill>
              <a:schemeClr val="tx2"/>
            </a:solidFill>
            <a:prstDash val="solid"/>
          </a:ln>
        </p:spPr>
      </p:sp>
      <p:sp>
        <p:nvSpPr>
          <p:cNvPr id="9" name="Versión texto v1"/>
          <p:cNvSpPr txBox="1"/>
          <p:nvPr/>
        </p:nvSpPr>
        <p:spPr>
          <a:xfrm>
            <a:off x="3474720" y="1783080"/>
            <a:ext cx="914400" cy="914400"/>
          </a:xfrm>
          <a:prstGeom prst="rect">
            <a:avLst/>
          </a:prstGeom>
          <a:noFill/>
          <a:ln/>
        </p:spPr>
        <p:txBody>
          <a:bodyPr wrap="square" lIns="0" tIns="0" rIns="0" bIns="0" rtlCol="0" anchor="ctr"/>
          <a:lstStyle/>
          <a:p>
            <a:pPr marL="0" indent="0" algn="ctr">
              <a:buNone/>
            </a:pPr>
            <a:r>
              <a:rPr lang="en-US" sz="2000" b="1" dirty="0">
                <a:solidFill>
                  <a:schemeClr val="bg1"/>
                </a:solidFill>
              </a:rPr>
              <a:t>v1</a:t>
            </a:r>
            <a:endParaRPr lang="en-US" sz="2000" dirty="0"/>
          </a:p>
        </p:txBody>
      </p:sp>
      <p:sp>
        <p:nvSpPr>
          <p:cNvPr id="10" name="Operación v1"/>
          <p:cNvSpPr txBox="1"/>
          <p:nvPr/>
        </p:nvSpPr>
        <p:spPr>
          <a:xfrm>
            <a:off x="3383280" y="2834640"/>
            <a:ext cx="2560320" cy="365760"/>
          </a:xfrm>
          <a:prstGeom prst="rect">
            <a:avLst/>
          </a:prstGeom>
          <a:noFill/>
          <a:ln/>
        </p:spPr>
        <p:txBody>
          <a:bodyPr wrap="square" lIns="0" tIns="0" rIns="0" bIns="0" rtlCol="0" anchor="t"/>
          <a:lstStyle/>
          <a:p>
            <a:pPr marL="0" indent="0">
              <a:buNone/>
            </a:pPr>
            <a:r>
              <a:rPr lang="en-US" sz="1600" b="1" dirty="0">
                <a:solidFill>
                  <a:schemeClr val="tx1"/>
                </a:solidFill>
              </a:rPr>
              <a:t>WRITE (append)</a:t>
            </a:r>
            <a:endParaRPr lang="en-US" sz="1600" dirty="0"/>
          </a:p>
        </p:txBody>
      </p:sp>
      <p:sp>
        <p:nvSpPr>
          <p:cNvPr id="11" name="Detalle v1"/>
          <p:cNvSpPr txBox="1"/>
          <p:nvPr/>
        </p:nvSpPr>
        <p:spPr>
          <a:xfrm>
            <a:off x="3383280" y="3200400"/>
            <a:ext cx="2560320" cy="365760"/>
          </a:xfrm>
          <a:prstGeom prst="rect">
            <a:avLst/>
          </a:prstGeom>
          <a:noFill/>
          <a:ln/>
        </p:spPr>
        <p:txBody>
          <a:bodyPr wrap="square" lIns="0" tIns="0" rIns="0" bIns="0" rtlCol="0" anchor="t"/>
          <a:lstStyle/>
          <a:p>
            <a:pPr marL="0" indent="0">
              <a:buNone/>
            </a:pPr>
            <a:r>
              <a:rPr lang="en-US" sz="1400" dirty="0">
                <a:solidFill>
                  <a:schemeClr val="accent4"/>
                </a:solidFill>
              </a:rPr>
              <a:t>+200 filas</a:t>
            </a:r>
            <a:endParaRPr lang="en-US" sz="1400" dirty="0"/>
          </a:p>
        </p:txBody>
      </p:sp>
      <p:sp>
        <p:nvSpPr>
          <p:cNvPr id="12" name="Versión v2"/>
          <p:cNvSpPr/>
          <p:nvPr/>
        </p:nvSpPr>
        <p:spPr>
          <a:xfrm>
            <a:off x="6309360" y="1783080"/>
            <a:ext cx="914400" cy="914400"/>
          </a:xfrm>
          <a:prstGeom prst="ellipse">
            <a:avLst/>
          </a:prstGeom>
          <a:solidFill>
            <a:schemeClr val="tx2"/>
          </a:solidFill>
          <a:ln w="12700">
            <a:solidFill>
              <a:schemeClr val="tx2"/>
            </a:solidFill>
            <a:prstDash val="solid"/>
          </a:ln>
        </p:spPr>
      </p:sp>
      <p:sp>
        <p:nvSpPr>
          <p:cNvPr id="13" name="Versión texto v2"/>
          <p:cNvSpPr txBox="1"/>
          <p:nvPr/>
        </p:nvSpPr>
        <p:spPr>
          <a:xfrm>
            <a:off x="6309360" y="1783080"/>
            <a:ext cx="914400" cy="914400"/>
          </a:xfrm>
          <a:prstGeom prst="rect">
            <a:avLst/>
          </a:prstGeom>
          <a:noFill/>
          <a:ln/>
        </p:spPr>
        <p:txBody>
          <a:bodyPr wrap="square" lIns="0" tIns="0" rIns="0" bIns="0" rtlCol="0" anchor="ctr"/>
          <a:lstStyle/>
          <a:p>
            <a:pPr marL="0" indent="0" algn="ctr">
              <a:buNone/>
            </a:pPr>
            <a:r>
              <a:rPr lang="en-US" sz="2000" b="1" dirty="0">
                <a:solidFill>
                  <a:schemeClr val="bg1"/>
                </a:solidFill>
              </a:rPr>
              <a:t>v2</a:t>
            </a:r>
            <a:endParaRPr lang="en-US" sz="2000" dirty="0"/>
          </a:p>
        </p:txBody>
      </p:sp>
      <p:sp>
        <p:nvSpPr>
          <p:cNvPr id="14" name="Operación v2"/>
          <p:cNvSpPr txBox="1"/>
          <p:nvPr/>
        </p:nvSpPr>
        <p:spPr>
          <a:xfrm>
            <a:off x="6217920" y="2834640"/>
            <a:ext cx="2560320" cy="365760"/>
          </a:xfrm>
          <a:prstGeom prst="rect">
            <a:avLst/>
          </a:prstGeom>
          <a:noFill/>
          <a:ln/>
        </p:spPr>
        <p:txBody>
          <a:bodyPr wrap="square" lIns="0" tIns="0" rIns="0" bIns="0" rtlCol="0" anchor="t"/>
          <a:lstStyle/>
          <a:p>
            <a:pPr marL="0" indent="0">
              <a:buNone/>
            </a:pPr>
            <a:r>
              <a:rPr lang="en-US" sz="1600" b="1" dirty="0">
                <a:solidFill>
                  <a:schemeClr val="tx1"/>
                </a:solidFill>
              </a:rPr>
              <a:t>UPDATE</a:t>
            </a:r>
            <a:endParaRPr lang="en-US" sz="1600" dirty="0"/>
          </a:p>
        </p:txBody>
      </p:sp>
      <p:sp>
        <p:nvSpPr>
          <p:cNvPr id="15" name="Detalle v2"/>
          <p:cNvSpPr txBox="1"/>
          <p:nvPr/>
        </p:nvSpPr>
        <p:spPr>
          <a:xfrm>
            <a:off x="6217920" y="3200400"/>
            <a:ext cx="2560320" cy="365760"/>
          </a:xfrm>
          <a:prstGeom prst="rect">
            <a:avLst/>
          </a:prstGeom>
          <a:noFill/>
          <a:ln/>
        </p:spPr>
        <p:txBody>
          <a:bodyPr wrap="square" lIns="0" tIns="0" rIns="0" bIns="0" rtlCol="0" anchor="t"/>
          <a:lstStyle/>
          <a:p>
            <a:pPr marL="0" indent="0">
              <a:buNone/>
            </a:pPr>
            <a:r>
              <a:rPr lang="en-US" sz="1400" dirty="0">
                <a:solidFill>
                  <a:schemeClr val="accent4"/>
                </a:solidFill>
              </a:rPr>
              <a:t>pagos × 1,1</a:t>
            </a:r>
            <a:endParaRPr lang="en-US" sz="1400" dirty="0"/>
          </a:p>
        </p:txBody>
      </p:sp>
      <p:sp>
        <p:nvSpPr>
          <p:cNvPr id="16" name="Versión v3"/>
          <p:cNvSpPr/>
          <p:nvPr/>
        </p:nvSpPr>
        <p:spPr>
          <a:xfrm>
            <a:off x="9144000" y="1783080"/>
            <a:ext cx="914400" cy="914400"/>
          </a:xfrm>
          <a:prstGeom prst="ellipse">
            <a:avLst/>
          </a:prstGeom>
          <a:solidFill>
            <a:schemeClr val="accent2"/>
          </a:solidFill>
          <a:ln w="12700">
            <a:solidFill>
              <a:schemeClr val="tx2"/>
            </a:solidFill>
            <a:prstDash val="solid"/>
          </a:ln>
        </p:spPr>
      </p:sp>
      <p:sp>
        <p:nvSpPr>
          <p:cNvPr id="17" name="Versión texto v3"/>
          <p:cNvSpPr txBox="1"/>
          <p:nvPr/>
        </p:nvSpPr>
        <p:spPr>
          <a:xfrm>
            <a:off x="9144000" y="1783080"/>
            <a:ext cx="914400" cy="914400"/>
          </a:xfrm>
          <a:prstGeom prst="rect">
            <a:avLst/>
          </a:prstGeom>
          <a:noFill/>
          <a:ln/>
        </p:spPr>
        <p:txBody>
          <a:bodyPr wrap="square" lIns="0" tIns="0" rIns="0" bIns="0" rtlCol="0" anchor="ctr"/>
          <a:lstStyle/>
          <a:p>
            <a:pPr marL="0" indent="0" algn="ctr">
              <a:buNone/>
            </a:pPr>
            <a:r>
              <a:rPr lang="en-US" sz="2000" b="1" dirty="0">
                <a:solidFill>
                  <a:schemeClr val="bg1"/>
                </a:solidFill>
              </a:rPr>
              <a:t>v3</a:t>
            </a:r>
            <a:endParaRPr lang="en-US" sz="2000" dirty="0"/>
          </a:p>
        </p:txBody>
      </p:sp>
      <p:sp>
        <p:nvSpPr>
          <p:cNvPr id="18" name="Operación v3"/>
          <p:cNvSpPr txBox="1"/>
          <p:nvPr/>
        </p:nvSpPr>
        <p:spPr>
          <a:xfrm>
            <a:off x="9052560" y="2834640"/>
            <a:ext cx="2560320" cy="365760"/>
          </a:xfrm>
          <a:prstGeom prst="rect">
            <a:avLst/>
          </a:prstGeom>
          <a:noFill/>
          <a:ln/>
        </p:spPr>
        <p:txBody>
          <a:bodyPr wrap="square" lIns="0" tIns="0" rIns="0" bIns="0" rtlCol="0" anchor="t"/>
          <a:lstStyle/>
          <a:p>
            <a:pPr marL="0" indent="0">
              <a:buNone/>
            </a:pPr>
            <a:r>
              <a:rPr lang="en-US" sz="1600" b="1" dirty="0">
                <a:solidFill>
                  <a:schemeClr val="tx1"/>
                </a:solidFill>
              </a:rPr>
              <a:t>DELETE</a:t>
            </a:r>
            <a:endParaRPr lang="en-US" sz="1600" dirty="0"/>
          </a:p>
        </p:txBody>
      </p:sp>
      <p:sp>
        <p:nvSpPr>
          <p:cNvPr id="19" name="Detalle v3"/>
          <p:cNvSpPr txBox="1"/>
          <p:nvPr/>
        </p:nvSpPr>
        <p:spPr>
          <a:xfrm>
            <a:off x="9052560" y="3200400"/>
            <a:ext cx="2560320" cy="365760"/>
          </a:xfrm>
          <a:prstGeom prst="rect">
            <a:avLst/>
          </a:prstGeom>
          <a:noFill/>
          <a:ln/>
        </p:spPr>
        <p:txBody>
          <a:bodyPr wrap="square" lIns="0" tIns="0" rIns="0" bIns="0" rtlCol="0" anchor="t"/>
          <a:lstStyle/>
          <a:p>
            <a:pPr marL="0" indent="0">
              <a:buNone/>
            </a:pPr>
            <a:r>
              <a:rPr lang="en-US" sz="1400" dirty="0">
                <a:solidFill>
                  <a:schemeClr val="accent4"/>
                </a:solidFill>
              </a:rPr>
              <a:t>sin Cali</a:t>
            </a:r>
            <a:endParaRPr lang="en-US" sz="1400" dirty="0"/>
          </a:p>
        </p:txBody>
      </p:sp>
      <p:sp>
        <p:nvSpPr>
          <p:cNvPr id="20" name="Código historial fondo"/>
          <p:cNvSpPr/>
          <p:nvPr/>
        </p:nvSpPr>
        <p:spPr>
          <a:xfrm>
            <a:off x="548640" y="3977640"/>
            <a:ext cx="5303520" cy="1920240"/>
          </a:xfrm>
          <a:prstGeom prst="roundRect">
            <a:avLst>
              <a:gd name="adj" fmla="val 4762"/>
            </a:avLst>
          </a:prstGeom>
          <a:solidFill>
            <a:schemeClr val="accent6"/>
          </a:solidFill>
          <a:ln w="12700">
            <a:solidFill>
              <a:schemeClr val="accent6"/>
            </a:solidFill>
            <a:prstDash val="solid"/>
          </a:ln>
        </p:spPr>
      </p:sp>
      <p:sp>
        <p:nvSpPr>
          <p:cNvPr id="21" name="Código historial"/>
          <p:cNvSpPr txBox="1"/>
          <p:nvPr/>
        </p:nvSpPr>
        <p:spPr>
          <a:xfrm>
            <a:off x="777240" y="4160520"/>
            <a:ext cx="4846320" cy="1554480"/>
          </a:xfrm>
          <a:prstGeom prst="rect">
            <a:avLst/>
          </a:prstGeom>
          <a:noFill/>
          <a:ln/>
        </p:spPr>
        <p:txBody>
          <a:bodyPr wrap="square" lIns="0" tIns="0" rIns="0" bIns="0" rtlCol="0" anchor="t"/>
          <a:lstStyle/>
          <a:p>
            <a:pPr marL="0" indent="0">
              <a:buNone/>
            </a:pPr>
            <a:r>
              <a:rPr lang="en-US" sz="1400" dirty="0">
                <a:solidFill>
                  <a:srgbClr val="8FA3BF"/>
                </a:solidFill>
                <a:latin typeface="Courier New" pitchFamily="34" charset="0"/>
                <a:ea typeface="Courier New" pitchFamily="34" charset="-122"/>
                <a:cs typeface="Courier New" pitchFamily="34" charset="-120"/>
              </a:rPr>
              <a:t>-- Qué pasó en cada versión</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DESCRIBE HISTORY transacciones;</a:t>
            </a:r>
            <a:endParaRPr lang="en-US" sz="1400" dirty="0"/>
          </a:p>
          <a:p>
            <a:pPr marL="0" indent="0">
              <a:buNone/>
            </a:pPr>
            <a:endParaRPr lang="en-US" sz="1400" dirty="0"/>
          </a:p>
          <a:p>
            <a:pPr marL="0" indent="0">
              <a:buNone/>
            </a:pPr>
            <a:r>
              <a:rPr lang="en-US" sz="1400" dirty="0">
                <a:solidFill>
                  <a:srgbClr val="8FA3BF"/>
                </a:solidFill>
                <a:latin typeface="Courier New" pitchFamily="34" charset="0"/>
                <a:ea typeface="Courier New" pitchFamily="34" charset="-122"/>
                <a:cs typeface="Courier New" pitchFamily="34" charset="-120"/>
              </a:rPr>
              <a:t>-- Detalle físico: archivos y tamaño</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DESCRIBE DETAIL transacciones;</a:t>
            </a:r>
            <a:endParaRPr lang="en-US" sz="1400" dirty="0"/>
          </a:p>
        </p:txBody>
      </p:sp>
      <p:sp>
        <p:nvSpPr>
          <p:cNvPr id="22" name="Explicación historial"/>
          <p:cNvSpPr txBox="1"/>
          <p:nvPr/>
        </p:nvSpPr>
        <p:spPr>
          <a:xfrm>
            <a:off x="6400800" y="4069080"/>
            <a:ext cx="5212080" cy="1828800"/>
          </a:xfrm>
          <a:prstGeom prst="rect">
            <a:avLst/>
          </a:prstGeom>
          <a:noFill/>
          <a:ln/>
        </p:spPr>
        <p:txBody>
          <a:bodyPr wrap="square" lIns="0" tIns="0" rIns="0" bIns="0" rtlCol="0" anchor="t"/>
          <a:lstStyle/>
          <a:p>
            <a:pPr marL="0" indent="0">
              <a:buNone/>
            </a:pPr>
            <a:r>
              <a:rPr lang="en-US" sz="1400" b="1" dirty="0">
                <a:solidFill>
                  <a:schemeClr val="tx1"/>
                </a:solidFill>
              </a:rPr>
              <a:t>DESCRIBE HISTORY</a:t>
            </a:r>
            <a:endParaRPr lang="en-US" sz="1400" dirty="0"/>
          </a:p>
          <a:p>
            <a:pPr marL="0" indent="0">
              <a:buNone/>
            </a:pPr>
            <a:r>
              <a:rPr lang="en-US" sz="1400" dirty="0">
                <a:solidFill>
                  <a:schemeClr val="tx1"/>
                </a:solidFill>
              </a:rPr>
              <a:t>versión, operación, quién, cuándo y métricas (operationMetrics)</a:t>
            </a:r>
            <a:endParaRPr lang="en-US" sz="1400" dirty="0"/>
          </a:p>
          <a:p>
            <a:pPr marL="0" indent="0">
              <a:buNone/>
            </a:pPr>
            <a:r>
              <a:rPr lang="en-US" sz="1400" dirty="0">
                <a:solidFill>
                  <a:schemeClr val="tx1"/>
                </a:solidFill>
              </a:rPr>
              <a:t> </a:t>
            </a:r>
            <a:endParaRPr lang="en-US" sz="1400" dirty="0"/>
          </a:p>
          <a:p>
            <a:pPr marL="0" indent="0">
              <a:buNone/>
            </a:pPr>
            <a:r>
              <a:rPr lang="en-US" sz="1400" b="1" dirty="0">
                <a:solidFill>
                  <a:schemeClr val="tx1"/>
                </a:solidFill>
              </a:rPr>
              <a:t>DESCRIBE DETAIL</a:t>
            </a:r>
            <a:endParaRPr lang="en-US" sz="1400" dirty="0"/>
          </a:p>
          <a:p>
            <a:pPr marL="0" indent="0">
              <a:buNone/>
            </a:pPr>
            <a:r>
              <a:rPr lang="en-US" sz="1400" dirty="0">
                <a:solidFill>
                  <a:schemeClr val="tx1"/>
                </a:solidFill>
              </a:rPr>
              <a:t>formato, ubicación, numFiles y sizeInBytes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Time travel: consulta la tabla como estaba antes</a:t>
            </a:r>
            <a:endParaRPr lang="en-US" sz="3000" dirty="0"/>
          </a:p>
        </p:txBody>
      </p:sp>
      <p:sp>
        <p:nvSpPr>
          <p:cNvPr id="3" name="Código time travel fondo"/>
          <p:cNvSpPr/>
          <p:nvPr/>
        </p:nvSpPr>
        <p:spPr>
          <a:xfrm>
            <a:off x="548640" y="1554480"/>
            <a:ext cx="6035040" cy="2743200"/>
          </a:xfrm>
          <a:prstGeom prst="roundRect">
            <a:avLst>
              <a:gd name="adj" fmla="val 3333"/>
            </a:avLst>
          </a:prstGeom>
          <a:solidFill>
            <a:schemeClr val="accent6"/>
          </a:solidFill>
          <a:ln w="12700">
            <a:solidFill>
              <a:schemeClr val="accent6"/>
            </a:solidFill>
            <a:prstDash val="solid"/>
          </a:ln>
        </p:spPr>
      </p:sp>
      <p:sp>
        <p:nvSpPr>
          <p:cNvPr id="4" name="Código time travel"/>
          <p:cNvSpPr txBox="1"/>
          <p:nvPr/>
        </p:nvSpPr>
        <p:spPr>
          <a:xfrm>
            <a:off x="777240" y="1737360"/>
            <a:ext cx="5577840" cy="2377440"/>
          </a:xfrm>
          <a:prstGeom prst="rect">
            <a:avLst/>
          </a:prstGeom>
          <a:noFill/>
          <a:ln/>
        </p:spPr>
        <p:txBody>
          <a:bodyPr wrap="square" lIns="0" tIns="0" rIns="0" bIns="0" rtlCol="0" anchor="t"/>
          <a:lstStyle/>
          <a:p>
            <a:pPr marL="0" indent="0">
              <a:buNone/>
            </a:pPr>
            <a:r>
              <a:rPr lang="en-US" sz="1400" dirty="0">
                <a:solidFill>
                  <a:srgbClr val="8FA3BF"/>
                </a:solidFill>
                <a:latin typeface="Courier New" pitchFamily="34" charset="0"/>
                <a:ea typeface="Courier New" pitchFamily="34" charset="-122"/>
                <a:cs typeface="Courier New" pitchFamily="34" charset="-120"/>
              </a:rPr>
              <a:t>-- Por versión</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SELECT * FROM transacciones VERSION AS OF 1;</a:t>
            </a:r>
            <a:endParaRPr lang="en-US" sz="1400" dirty="0"/>
          </a:p>
          <a:p>
            <a:pPr marL="0" indent="0">
              <a:buNone/>
            </a:pPr>
            <a:endParaRPr lang="en-US" sz="1400" dirty="0"/>
          </a:p>
          <a:p>
            <a:pPr marL="0" indent="0">
              <a:buNone/>
            </a:pPr>
            <a:r>
              <a:rPr lang="en-US" sz="1400" dirty="0">
                <a:solidFill>
                  <a:srgbClr val="8FA3BF"/>
                </a:solidFill>
                <a:latin typeface="Courier New" pitchFamily="34" charset="0"/>
                <a:ea typeface="Courier New" pitchFamily="34" charset="-122"/>
                <a:cs typeface="Courier New" pitchFamily="34" charset="-120"/>
              </a:rPr>
              <a:t>-- Forma corta</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SELECT * FROM transacciones@v1;</a:t>
            </a:r>
            <a:endParaRPr lang="en-US" sz="1400" dirty="0"/>
          </a:p>
          <a:p>
            <a:pPr marL="0" indent="0">
              <a:buNone/>
            </a:pPr>
            <a:endParaRPr lang="en-US" sz="1400" dirty="0"/>
          </a:p>
          <a:p>
            <a:pPr marL="0" indent="0">
              <a:buNone/>
            </a:pPr>
            <a:r>
              <a:rPr lang="en-US" sz="1400" dirty="0">
                <a:solidFill>
                  <a:srgbClr val="8FA3BF"/>
                </a:solidFill>
                <a:latin typeface="Courier New" pitchFamily="34" charset="0"/>
                <a:ea typeface="Courier New" pitchFamily="34" charset="-122"/>
                <a:cs typeface="Courier New" pitchFamily="34" charset="-120"/>
              </a:rPr>
              <a:t>-- Por fecha y hora</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SELECT * FROM transacciones</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  TIMESTAMP AS OF '2026-10-15 10:00:00';</a:t>
            </a:r>
            <a:endParaRPr lang="en-US" sz="1400" dirty="0"/>
          </a:p>
        </p:txBody>
      </p:sp>
      <p:sp>
        <p:nvSpPr>
          <p:cNvPr id="5" name="Código restore fondo"/>
          <p:cNvSpPr/>
          <p:nvPr/>
        </p:nvSpPr>
        <p:spPr>
          <a:xfrm>
            <a:off x="548640" y="4526280"/>
            <a:ext cx="6035040" cy="1280160"/>
          </a:xfrm>
          <a:prstGeom prst="roundRect">
            <a:avLst>
              <a:gd name="adj" fmla="val 7143"/>
            </a:avLst>
          </a:prstGeom>
          <a:solidFill>
            <a:schemeClr val="accent6"/>
          </a:solidFill>
          <a:ln w="12700">
            <a:solidFill>
              <a:schemeClr val="accent6"/>
            </a:solidFill>
            <a:prstDash val="solid"/>
          </a:ln>
        </p:spPr>
      </p:sp>
      <p:sp>
        <p:nvSpPr>
          <p:cNvPr id="6" name="Código restore"/>
          <p:cNvSpPr txBox="1"/>
          <p:nvPr/>
        </p:nvSpPr>
        <p:spPr>
          <a:xfrm>
            <a:off x="777240" y="4709160"/>
            <a:ext cx="5577840" cy="914400"/>
          </a:xfrm>
          <a:prstGeom prst="rect">
            <a:avLst/>
          </a:prstGeom>
          <a:noFill/>
          <a:ln/>
        </p:spPr>
        <p:txBody>
          <a:bodyPr wrap="square" lIns="0" tIns="0" rIns="0" bIns="0" rtlCol="0" anchor="t"/>
          <a:lstStyle/>
          <a:p>
            <a:pPr marL="0" indent="0">
              <a:buNone/>
            </a:pPr>
            <a:r>
              <a:rPr lang="en-US" sz="1400" dirty="0">
                <a:solidFill>
                  <a:srgbClr val="8FA3BF"/>
                </a:solidFill>
                <a:latin typeface="Courier New" pitchFamily="34" charset="0"/>
                <a:ea typeface="Courier New" pitchFamily="34" charset="-122"/>
                <a:cs typeface="Courier New" pitchFamily="34" charset="-120"/>
              </a:rPr>
              <a:t>-- Recuperar la tabla tras un error</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RESTORE TABLE transacciones TO VERSION AS OF 3;</a:t>
            </a:r>
            <a:endParaRPr lang="en-US" sz="1400" dirty="0"/>
          </a:p>
        </p:txBody>
      </p:sp>
      <p:sp>
        <p:nvSpPr>
          <p:cNvPr id="7" name="Restore círculo"/>
          <p:cNvSpPr/>
          <p:nvPr/>
        </p:nvSpPr>
        <p:spPr>
          <a:xfrm>
            <a:off x="7040880" y="1600200"/>
            <a:ext cx="685800" cy="685800"/>
          </a:xfrm>
          <a:prstGeom prst="ellipse">
            <a:avLst/>
          </a:prstGeom>
          <a:solidFill>
            <a:schemeClr val="accent2"/>
          </a:solidFill>
          <a:ln w="12700">
            <a:solidFill>
              <a:schemeClr val="accent2"/>
            </a:solidFill>
            <a:prstDash val="solid"/>
          </a:ln>
        </p:spPr>
      </p:sp>
      <p:pic>
        <p:nvPicPr>
          <p:cNvPr id="8" name="Restore ícono" descr="preencoded.png"/>
          <p:cNvPicPr>
            <a:picLocks noChangeAspect="1"/>
          </p:cNvPicPr>
          <p:nvPr/>
        </p:nvPicPr>
        <p:blipFill>
          <a:blip r:embed="rId3"/>
          <a:stretch>
            <a:fillRect/>
          </a:stretch>
        </p:blipFill>
        <p:spPr>
          <a:xfrm>
            <a:off x="7219188" y="1778508"/>
            <a:ext cx="329184" cy="329184"/>
          </a:xfrm>
          <a:prstGeom prst="rect">
            <a:avLst/>
          </a:prstGeom>
        </p:spPr>
      </p:pic>
      <p:sp>
        <p:nvSpPr>
          <p:cNvPr id="9" name="Restore título"/>
          <p:cNvSpPr txBox="1"/>
          <p:nvPr/>
        </p:nvSpPr>
        <p:spPr>
          <a:xfrm>
            <a:off x="7909560" y="1645920"/>
            <a:ext cx="3749040" cy="640080"/>
          </a:xfrm>
          <a:prstGeom prst="rect">
            <a:avLst/>
          </a:prstGeom>
          <a:noFill/>
          <a:ln/>
        </p:spPr>
        <p:txBody>
          <a:bodyPr wrap="square" lIns="0" tIns="0" rIns="0" bIns="0" rtlCol="0" anchor="t"/>
          <a:lstStyle/>
          <a:p>
            <a:pPr marL="0" indent="0">
              <a:buNone/>
            </a:pPr>
            <a:r>
              <a:rPr lang="en-US" sz="1800" b="1" dirty="0">
                <a:solidFill>
                  <a:schemeClr val="tx1"/>
                </a:solidFill>
              </a:rPr>
              <a:t>RESTORE no borra el historial</a:t>
            </a:r>
            <a:endParaRPr lang="en-US" sz="1800" dirty="0"/>
          </a:p>
        </p:txBody>
      </p:sp>
      <p:sp>
        <p:nvSpPr>
          <p:cNvPr id="10" name="Restore texto"/>
          <p:cNvSpPr txBox="1"/>
          <p:nvPr/>
        </p:nvSpPr>
        <p:spPr>
          <a:xfrm>
            <a:off x="7909560" y="2286000"/>
            <a:ext cx="3749040" cy="1097280"/>
          </a:xfrm>
          <a:prstGeom prst="rect">
            <a:avLst/>
          </a:prstGeom>
          <a:noFill/>
          <a:ln/>
        </p:spPr>
        <p:txBody>
          <a:bodyPr wrap="square" lIns="0" tIns="0" rIns="0" bIns="0" rtlCol="0" anchor="t"/>
          <a:lstStyle/>
          <a:p>
            <a:pPr marL="0" indent="0">
              <a:buNone/>
            </a:pPr>
            <a:r>
              <a:rPr lang="en-US" sz="1400" dirty="0">
                <a:solidFill>
                  <a:schemeClr val="accent4"/>
                </a:solidFill>
              </a:rPr>
              <a:t>Agrega una versión nueva con el contenido de la versión elegida. La versión del error sigue ahí.</a:t>
            </a:r>
            <a:endParaRPr lang="en-US" sz="1400" dirty="0"/>
          </a:p>
        </p:txBody>
      </p:sp>
      <p:sp>
        <p:nvSpPr>
          <p:cNvPr id="11" name="Vacuum círculo"/>
          <p:cNvSpPr/>
          <p:nvPr/>
        </p:nvSpPr>
        <p:spPr>
          <a:xfrm>
            <a:off x="7040880" y="3749040"/>
            <a:ext cx="685800" cy="685800"/>
          </a:xfrm>
          <a:prstGeom prst="ellipse">
            <a:avLst/>
          </a:prstGeom>
          <a:solidFill>
            <a:schemeClr val="accent3"/>
          </a:solidFill>
          <a:ln w="12700">
            <a:solidFill>
              <a:schemeClr val="accent3"/>
            </a:solidFill>
            <a:prstDash val="solid"/>
          </a:ln>
        </p:spPr>
      </p:sp>
      <p:pic>
        <p:nvPicPr>
          <p:cNvPr id="12" name="Vacuum ícono" descr="preencoded.png"/>
          <p:cNvPicPr>
            <a:picLocks noChangeAspect="1"/>
          </p:cNvPicPr>
          <p:nvPr/>
        </p:nvPicPr>
        <p:blipFill>
          <a:blip r:embed="rId4"/>
          <a:stretch>
            <a:fillRect/>
          </a:stretch>
        </p:blipFill>
        <p:spPr>
          <a:xfrm>
            <a:off x="7219188" y="3927348"/>
            <a:ext cx="329184" cy="329184"/>
          </a:xfrm>
          <a:prstGeom prst="rect">
            <a:avLst/>
          </a:prstGeom>
        </p:spPr>
      </p:pic>
      <p:sp>
        <p:nvSpPr>
          <p:cNvPr id="13" name="Vacuum título"/>
          <p:cNvSpPr txBox="1"/>
          <p:nvPr/>
        </p:nvSpPr>
        <p:spPr>
          <a:xfrm>
            <a:off x="7909560" y="3794760"/>
            <a:ext cx="3749040" cy="457200"/>
          </a:xfrm>
          <a:prstGeom prst="rect">
            <a:avLst/>
          </a:prstGeom>
          <a:noFill/>
          <a:ln/>
        </p:spPr>
        <p:txBody>
          <a:bodyPr wrap="square" lIns="0" tIns="0" rIns="0" bIns="0" rtlCol="0" anchor="t"/>
          <a:lstStyle/>
          <a:p>
            <a:pPr marL="0" indent="0">
              <a:buNone/>
            </a:pPr>
            <a:r>
              <a:rPr lang="en-US" sz="1800" b="1" dirty="0">
                <a:solidFill>
                  <a:schemeClr val="tx1"/>
                </a:solidFill>
              </a:rPr>
              <a:t>El límite: VACUUM</a:t>
            </a:r>
            <a:endParaRPr lang="en-US" sz="1800" dirty="0"/>
          </a:p>
        </p:txBody>
      </p:sp>
      <p:sp>
        <p:nvSpPr>
          <p:cNvPr id="14" name="Vacuum texto"/>
          <p:cNvSpPr txBox="1"/>
          <p:nvPr/>
        </p:nvSpPr>
        <p:spPr>
          <a:xfrm>
            <a:off x="7909560" y="4251960"/>
            <a:ext cx="3749040" cy="1371600"/>
          </a:xfrm>
          <a:prstGeom prst="rect">
            <a:avLst/>
          </a:prstGeom>
          <a:noFill/>
          <a:ln/>
        </p:spPr>
        <p:txBody>
          <a:bodyPr wrap="square" lIns="0" tIns="0" rIns="0" bIns="0" rtlCol="0" anchor="t"/>
          <a:lstStyle/>
          <a:p>
            <a:pPr marL="0" indent="0">
              <a:buNone/>
            </a:pPr>
            <a:r>
              <a:rPr lang="en-US" sz="1400" dirty="0">
                <a:solidFill>
                  <a:schemeClr val="accent4"/>
                </a:solidFill>
              </a:rPr>
              <a:t>El time travel necesita los archivos de esa versión. VACUUM borra los que no se usan hace más de 7 días, y con ellos esas versiones.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Change Data Feed: qué cambió, fila por fila</a:t>
            </a:r>
            <a:endParaRPr lang="en-US" sz="3000" dirty="0"/>
          </a:p>
        </p:txBody>
      </p:sp>
      <p:sp>
        <p:nvSpPr>
          <p:cNvPr id="3" name="CDF intro"/>
          <p:cNvSpPr txBox="1"/>
          <p:nvPr/>
        </p:nvSpPr>
        <p:spPr>
          <a:xfrm>
            <a:off x="548640" y="1463040"/>
            <a:ext cx="10972800" cy="640080"/>
          </a:xfrm>
          <a:prstGeom prst="rect">
            <a:avLst/>
          </a:prstGeom>
          <a:noFill/>
          <a:ln/>
        </p:spPr>
        <p:txBody>
          <a:bodyPr wrap="square" lIns="0" tIns="0" rIns="0" bIns="0" rtlCol="0" anchor="t"/>
          <a:lstStyle/>
          <a:p>
            <a:pPr marL="0" indent="0">
              <a:buNone/>
            </a:pPr>
            <a:r>
              <a:rPr lang="en-US" sz="1600" dirty="0">
                <a:solidFill>
                  <a:schemeClr val="accent4"/>
                </a:solidFill>
              </a:rPr>
              <a:t>Time travel muestra una foto de la tabla. El Change Data Feed muestra los cambios entre versiones, y solo registra los posteriores a su activación.</a:t>
            </a:r>
            <a:endParaRPr lang="en-US" sz="1600" dirty="0"/>
          </a:p>
        </p:txBody>
      </p:sp>
      <p:sp>
        <p:nvSpPr>
          <p:cNvPr id="4" name="Código CDF fondo"/>
          <p:cNvSpPr/>
          <p:nvPr/>
        </p:nvSpPr>
        <p:spPr>
          <a:xfrm>
            <a:off x="548640" y="2286000"/>
            <a:ext cx="5852160" cy="3566160"/>
          </a:xfrm>
          <a:prstGeom prst="roundRect">
            <a:avLst>
              <a:gd name="adj" fmla="val 2564"/>
            </a:avLst>
          </a:prstGeom>
          <a:solidFill>
            <a:schemeClr val="accent6"/>
          </a:solidFill>
          <a:ln w="12700">
            <a:solidFill>
              <a:schemeClr val="accent6"/>
            </a:solidFill>
            <a:prstDash val="solid"/>
          </a:ln>
        </p:spPr>
      </p:sp>
      <p:sp>
        <p:nvSpPr>
          <p:cNvPr id="5" name="Código CDF"/>
          <p:cNvSpPr txBox="1"/>
          <p:nvPr/>
        </p:nvSpPr>
        <p:spPr>
          <a:xfrm>
            <a:off x="777240" y="2468880"/>
            <a:ext cx="5394960" cy="3200400"/>
          </a:xfrm>
          <a:prstGeom prst="rect">
            <a:avLst/>
          </a:prstGeom>
          <a:noFill/>
          <a:ln/>
        </p:spPr>
        <p:txBody>
          <a:bodyPr wrap="square" lIns="0" tIns="0" rIns="0" bIns="0" rtlCol="0" anchor="t"/>
          <a:lstStyle/>
          <a:p>
            <a:pPr marL="0" indent="0">
              <a:buNone/>
            </a:pPr>
            <a:r>
              <a:rPr lang="en-US" sz="1400" dirty="0">
                <a:solidFill>
                  <a:srgbClr val="8FA3BF"/>
                </a:solidFill>
                <a:latin typeface="Courier New" pitchFamily="34" charset="0"/>
                <a:ea typeface="Courier New" pitchFamily="34" charset="-122"/>
                <a:cs typeface="Courier New" pitchFamily="34" charset="-120"/>
              </a:rPr>
              <a:t>-- 1. Activarlo en la tabla</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CREATE TABLE clientes (...)</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TBLPROPERTIES (</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  delta.enableChangeDataFeed = true</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a:t>
            </a:r>
            <a:endParaRPr lang="en-US" sz="1400" dirty="0"/>
          </a:p>
          <a:p>
            <a:pPr marL="0" indent="0">
              <a:buNone/>
            </a:pPr>
            <a:endParaRPr lang="en-US" sz="1400" dirty="0"/>
          </a:p>
          <a:p>
            <a:pPr marL="0" indent="0">
              <a:buNone/>
            </a:pPr>
            <a:r>
              <a:rPr lang="en-US" sz="1400" dirty="0">
                <a:solidFill>
                  <a:srgbClr val="8FA3BF"/>
                </a:solidFill>
                <a:latin typeface="Courier New" pitchFamily="34" charset="0"/>
                <a:ea typeface="Courier New" pitchFamily="34" charset="-122"/>
                <a:cs typeface="Courier New" pitchFamily="34" charset="-120"/>
              </a:rPr>
              <a:t>-- 2. Leer los cambios desde la versión 1</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SELECT *</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FROM table_changes('clientes', 1);</a:t>
            </a:r>
            <a:endParaRPr lang="en-US" sz="1400" dirty="0"/>
          </a:p>
        </p:txBody>
      </p:sp>
      <p:sp>
        <p:nvSpPr>
          <p:cNvPr id="6" name="Change type título"/>
          <p:cNvSpPr txBox="1"/>
          <p:nvPr/>
        </p:nvSpPr>
        <p:spPr>
          <a:xfrm>
            <a:off x="6766560" y="2286000"/>
            <a:ext cx="4572000" cy="365760"/>
          </a:xfrm>
          <a:prstGeom prst="rect">
            <a:avLst/>
          </a:prstGeom>
          <a:noFill/>
          <a:ln/>
        </p:spPr>
        <p:txBody>
          <a:bodyPr wrap="square" lIns="0" tIns="0" rIns="0" bIns="0" rtlCol="0" anchor="t"/>
          <a:lstStyle/>
          <a:p>
            <a:pPr marL="0" indent="0">
              <a:buNone/>
            </a:pPr>
            <a:r>
              <a:rPr lang="en-US" sz="1600" b="1" dirty="0">
                <a:solidFill>
                  <a:schemeClr val="tx1"/>
                </a:solidFill>
                <a:latin typeface="Courier New" pitchFamily="34" charset="0"/>
                <a:ea typeface="Courier New" pitchFamily="34" charset="-122"/>
                <a:cs typeface="Courier New" pitchFamily="34" charset="-120"/>
              </a:rPr>
              <a:t>_change_type</a:t>
            </a:r>
            <a:endParaRPr lang="en-US" sz="1600" dirty="0"/>
          </a:p>
        </p:txBody>
      </p:sp>
      <p:sp>
        <p:nvSpPr>
          <p:cNvPr id="7" name="Tipo insert"/>
          <p:cNvSpPr/>
          <p:nvPr/>
        </p:nvSpPr>
        <p:spPr>
          <a:xfrm>
            <a:off x="6766560" y="2788920"/>
            <a:ext cx="2286000" cy="548640"/>
          </a:xfrm>
          <a:prstGeom prst="roundRect">
            <a:avLst>
              <a:gd name="adj" fmla="val 13333"/>
            </a:avLst>
          </a:prstGeom>
          <a:solidFill>
            <a:schemeClr val="accent2"/>
          </a:solidFill>
          <a:ln w="12700">
            <a:solidFill>
              <a:schemeClr val="accent2"/>
            </a:solidFill>
            <a:prstDash val="solid"/>
          </a:ln>
        </p:spPr>
      </p:sp>
      <p:sp>
        <p:nvSpPr>
          <p:cNvPr id="8" name="Tipo texto insert"/>
          <p:cNvSpPr txBox="1"/>
          <p:nvPr/>
        </p:nvSpPr>
        <p:spPr>
          <a:xfrm>
            <a:off x="6766560" y="2788920"/>
            <a:ext cx="2286000" cy="54864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insert</a:t>
            </a:r>
            <a:endParaRPr lang="en-US" sz="1300" dirty="0"/>
          </a:p>
        </p:txBody>
      </p:sp>
      <p:sp>
        <p:nvSpPr>
          <p:cNvPr id="9" name="Tipo detalle insert"/>
          <p:cNvSpPr txBox="1"/>
          <p:nvPr/>
        </p:nvSpPr>
        <p:spPr>
          <a:xfrm>
            <a:off x="9235440" y="2880360"/>
            <a:ext cx="2468880" cy="457200"/>
          </a:xfrm>
          <a:prstGeom prst="rect">
            <a:avLst/>
          </a:prstGeom>
          <a:noFill/>
          <a:ln/>
        </p:spPr>
        <p:txBody>
          <a:bodyPr wrap="square" lIns="0" tIns="0" rIns="0" bIns="0" rtlCol="0" anchor="t"/>
          <a:lstStyle/>
          <a:p>
            <a:pPr marL="0" indent="0">
              <a:buNone/>
            </a:pPr>
            <a:r>
              <a:rPr lang="en-US" sz="1400" dirty="0">
                <a:solidFill>
                  <a:schemeClr val="tx1"/>
                </a:solidFill>
              </a:rPr>
              <a:t>Fila nueva</a:t>
            </a:r>
            <a:endParaRPr lang="en-US" sz="1400" dirty="0"/>
          </a:p>
        </p:txBody>
      </p:sp>
      <p:sp>
        <p:nvSpPr>
          <p:cNvPr id="10" name="Tipo delete"/>
          <p:cNvSpPr/>
          <p:nvPr/>
        </p:nvSpPr>
        <p:spPr>
          <a:xfrm>
            <a:off x="6766560" y="3566160"/>
            <a:ext cx="2286000" cy="548640"/>
          </a:xfrm>
          <a:prstGeom prst="roundRect">
            <a:avLst>
              <a:gd name="adj" fmla="val 13333"/>
            </a:avLst>
          </a:prstGeom>
          <a:solidFill>
            <a:schemeClr val="accent3"/>
          </a:solidFill>
          <a:ln w="12700">
            <a:solidFill>
              <a:schemeClr val="accent3"/>
            </a:solidFill>
            <a:prstDash val="solid"/>
          </a:ln>
        </p:spPr>
      </p:sp>
      <p:sp>
        <p:nvSpPr>
          <p:cNvPr id="11" name="Tipo texto delete"/>
          <p:cNvSpPr txBox="1"/>
          <p:nvPr/>
        </p:nvSpPr>
        <p:spPr>
          <a:xfrm>
            <a:off x="6766560" y="3566160"/>
            <a:ext cx="2286000" cy="54864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delete</a:t>
            </a:r>
            <a:endParaRPr lang="en-US" sz="1300" dirty="0"/>
          </a:p>
        </p:txBody>
      </p:sp>
      <p:sp>
        <p:nvSpPr>
          <p:cNvPr id="12" name="Tipo detalle delete"/>
          <p:cNvSpPr txBox="1"/>
          <p:nvPr/>
        </p:nvSpPr>
        <p:spPr>
          <a:xfrm>
            <a:off x="9235440" y="3657600"/>
            <a:ext cx="2468880" cy="457200"/>
          </a:xfrm>
          <a:prstGeom prst="rect">
            <a:avLst/>
          </a:prstGeom>
          <a:noFill/>
          <a:ln/>
        </p:spPr>
        <p:txBody>
          <a:bodyPr wrap="square" lIns="0" tIns="0" rIns="0" bIns="0" rtlCol="0" anchor="t"/>
          <a:lstStyle/>
          <a:p>
            <a:pPr marL="0" indent="0">
              <a:buNone/>
            </a:pPr>
            <a:r>
              <a:rPr lang="en-US" sz="1400" dirty="0">
                <a:solidFill>
                  <a:schemeClr val="tx1"/>
                </a:solidFill>
              </a:rPr>
              <a:t>Fila eliminada</a:t>
            </a:r>
            <a:endParaRPr lang="en-US" sz="1400" dirty="0"/>
          </a:p>
        </p:txBody>
      </p:sp>
      <p:sp>
        <p:nvSpPr>
          <p:cNvPr id="13" name="Tipo update_preimage"/>
          <p:cNvSpPr/>
          <p:nvPr/>
        </p:nvSpPr>
        <p:spPr>
          <a:xfrm>
            <a:off x="6766560" y="4343400"/>
            <a:ext cx="2286000" cy="548640"/>
          </a:xfrm>
          <a:prstGeom prst="roundRect">
            <a:avLst>
              <a:gd name="adj" fmla="val 13333"/>
            </a:avLst>
          </a:prstGeom>
          <a:solidFill>
            <a:schemeClr val="tx2"/>
          </a:solidFill>
          <a:ln w="12700">
            <a:solidFill>
              <a:schemeClr val="tx2"/>
            </a:solidFill>
            <a:prstDash val="solid"/>
          </a:ln>
        </p:spPr>
      </p:sp>
      <p:sp>
        <p:nvSpPr>
          <p:cNvPr id="14" name="Tipo texto update_preimage"/>
          <p:cNvSpPr txBox="1"/>
          <p:nvPr/>
        </p:nvSpPr>
        <p:spPr>
          <a:xfrm>
            <a:off x="6766560" y="4343400"/>
            <a:ext cx="2286000" cy="54864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update_preimage</a:t>
            </a:r>
            <a:endParaRPr lang="en-US" sz="1300" dirty="0"/>
          </a:p>
        </p:txBody>
      </p:sp>
      <p:sp>
        <p:nvSpPr>
          <p:cNvPr id="15" name="Tipo detalle update_preimage"/>
          <p:cNvSpPr txBox="1"/>
          <p:nvPr/>
        </p:nvSpPr>
        <p:spPr>
          <a:xfrm>
            <a:off x="9235440" y="4434840"/>
            <a:ext cx="2468880" cy="457200"/>
          </a:xfrm>
          <a:prstGeom prst="rect">
            <a:avLst/>
          </a:prstGeom>
          <a:noFill/>
          <a:ln/>
        </p:spPr>
        <p:txBody>
          <a:bodyPr wrap="square" lIns="0" tIns="0" rIns="0" bIns="0" rtlCol="0" anchor="t"/>
          <a:lstStyle/>
          <a:p>
            <a:pPr marL="0" indent="0">
              <a:buNone/>
            </a:pPr>
            <a:r>
              <a:rPr lang="en-US" sz="1400" dirty="0">
                <a:solidFill>
                  <a:schemeClr val="tx1"/>
                </a:solidFill>
              </a:rPr>
              <a:t>Cómo era antes del UPDATE</a:t>
            </a:r>
            <a:endParaRPr lang="en-US" sz="1400" dirty="0"/>
          </a:p>
        </p:txBody>
      </p:sp>
      <p:sp>
        <p:nvSpPr>
          <p:cNvPr id="16" name="Tipo update_postimage"/>
          <p:cNvSpPr/>
          <p:nvPr/>
        </p:nvSpPr>
        <p:spPr>
          <a:xfrm>
            <a:off x="6766560" y="5120640"/>
            <a:ext cx="2286000" cy="548640"/>
          </a:xfrm>
          <a:prstGeom prst="roundRect">
            <a:avLst>
              <a:gd name="adj" fmla="val 13333"/>
            </a:avLst>
          </a:prstGeom>
          <a:solidFill>
            <a:schemeClr val="tx2"/>
          </a:solidFill>
          <a:ln w="12700">
            <a:solidFill>
              <a:schemeClr val="tx2"/>
            </a:solidFill>
            <a:prstDash val="solid"/>
          </a:ln>
        </p:spPr>
      </p:sp>
      <p:sp>
        <p:nvSpPr>
          <p:cNvPr id="17" name="Tipo texto update_postimage"/>
          <p:cNvSpPr txBox="1"/>
          <p:nvPr/>
        </p:nvSpPr>
        <p:spPr>
          <a:xfrm>
            <a:off x="6766560" y="5120640"/>
            <a:ext cx="2286000" cy="54864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update_postimage</a:t>
            </a:r>
            <a:endParaRPr lang="en-US" sz="1300" dirty="0"/>
          </a:p>
        </p:txBody>
      </p:sp>
      <p:sp>
        <p:nvSpPr>
          <p:cNvPr id="18" name="Tipo detalle update_postimage"/>
          <p:cNvSpPr txBox="1"/>
          <p:nvPr/>
        </p:nvSpPr>
        <p:spPr>
          <a:xfrm>
            <a:off x="9235440" y="5212080"/>
            <a:ext cx="2468880" cy="457200"/>
          </a:xfrm>
          <a:prstGeom prst="rect">
            <a:avLst/>
          </a:prstGeom>
          <a:noFill/>
          <a:ln/>
        </p:spPr>
        <p:txBody>
          <a:bodyPr wrap="square" lIns="0" tIns="0" rIns="0" bIns="0" rtlCol="0" anchor="t"/>
          <a:lstStyle/>
          <a:p>
            <a:pPr marL="0" indent="0">
              <a:buNone/>
            </a:pPr>
            <a:r>
              <a:rPr lang="en-US" sz="1400" dirty="0">
                <a:solidFill>
                  <a:schemeClr val="tx1"/>
                </a:solidFill>
              </a:rPr>
              <a:t>Cómo quedó después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Delta protege el schema, y lo cambia solo si se lo pides</a:t>
            </a:r>
            <a:endParaRPr lang="en-US" sz="3000" dirty="0"/>
          </a:p>
        </p:txBody>
      </p:sp>
      <p:sp>
        <p:nvSpPr>
          <p:cNvPr id="3" name="Schema enforcement círculo"/>
          <p:cNvSpPr/>
          <p:nvPr/>
        </p:nvSpPr>
        <p:spPr>
          <a:xfrm>
            <a:off x="548640" y="1554480"/>
            <a:ext cx="685800" cy="685800"/>
          </a:xfrm>
          <a:prstGeom prst="ellipse">
            <a:avLst/>
          </a:prstGeom>
          <a:solidFill>
            <a:schemeClr val="accent3"/>
          </a:solidFill>
          <a:ln w="12700">
            <a:solidFill>
              <a:schemeClr val="accent3"/>
            </a:solidFill>
            <a:prstDash val="solid"/>
          </a:ln>
        </p:spPr>
      </p:sp>
      <p:pic>
        <p:nvPicPr>
          <p:cNvPr id="4" name="Schema enforcement ícono" descr="preencoded.png"/>
          <p:cNvPicPr>
            <a:picLocks noChangeAspect="1"/>
          </p:cNvPicPr>
          <p:nvPr/>
        </p:nvPicPr>
        <p:blipFill>
          <a:blip r:embed="rId3"/>
          <a:stretch>
            <a:fillRect/>
          </a:stretch>
        </p:blipFill>
        <p:spPr>
          <a:xfrm>
            <a:off x="726948" y="1732788"/>
            <a:ext cx="329184" cy="329184"/>
          </a:xfrm>
          <a:prstGeom prst="rect">
            <a:avLst/>
          </a:prstGeom>
        </p:spPr>
      </p:pic>
      <p:sp>
        <p:nvSpPr>
          <p:cNvPr id="5" name="Schema enforcement título"/>
          <p:cNvSpPr txBox="1"/>
          <p:nvPr/>
        </p:nvSpPr>
        <p:spPr>
          <a:xfrm>
            <a:off x="1417320" y="1645920"/>
            <a:ext cx="4389120" cy="457200"/>
          </a:xfrm>
          <a:prstGeom prst="rect">
            <a:avLst/>
          </a:prstGeom>
          <a:noFill/>
          <a:ln/>
        </p:spPr>
        <p:txBody>
          <a:bodyPr wrap="square" lIns="0" tIns="0" rIns="0" bIns="0" rtlCol="0" anchor="t"/>
          <a:lstStyle/>
          <a:p>
            <a:pPr marL="0" indent="0">
              <a:buNone/>
            </a:pPr>
            <a:r>
              <a:rPr lang="en-US" sz="2000" b="1" dirty="0">
                <a:solidFill>
                  <a:schemeClr val="tx1"/>
                </a:solidFill>
              </a:rPr>
              <a:t>Schema enforcement</a:t>
            </a:r>
            <a:endParaRPr lang="en-US" sz="2000" dirty="0"/>
          </a:p>
        </p:txBody>
      </p:sp>
      <p:sp>
        <p:nvSpPr>
          <p:cNvPr id="6" name="Schema enforcement texto"/>
          <p:cNvSpPr txBox="1"/>
          <p:nvPr/>
        </p:nvSpPr>
        <p:spPr>
          <a:xfrm>
            <a:off x="548640" y="2423160"/>
            <a:ext cx="5303520" cy="1188720"/>
          </a:xfrm>
          <a:prstGeom prst="rect">
            <a:avLst/>
          </a:prstGeom>
          <a:noFill/>
          <a:ln/>
        </p:spPr>
        <p:txBody>
          <a:bodyPr wrap="square" lIns="0" tIns="0" rIns="0" bIns="0" rtlCol="0" anchor="t"/>
          <a:lstStyle/>
          <a:p>
            <a:pPr marL="0" indent="0">
              <a:buNone/>
            </a:pPr>
            <a:r>
              <a:rPr lang="en-US" sz="1500" dirty="0">
                <a:solidFill>
                  <a:schemeClr val="tx1"/>
                </a:solidFill>
              </a:rPr>
              <a:t>Por defecto, Delta rechaza escrituras con columnas extra o tipos incompatibles. Un archivo mal formado no ensucia la tabla en silencio.</a:t>
            </a:r>
            <a:endParaRPr lang="en-US" sz="1500" dirty="0"/>
          </a:p>
        </p:txBody>
      </p:sp>
      <p:sp>
        <p:nvSpPr>
          <p:cNvPr id="7" name="Schema enforcement código fondo"/>
          <p:cNvSpPr/>
          <p:nvPr/>
        </p:nvSpPr>
        <p:spPr>
          <a:xfrm>
            <a:off x="548640" y="3749040"/>
            <a:ext cx="5303520" cy="1371600"/>
          </a:xfrm>
          <a:prstGeom prst="roundRect">
            <a:avLst>
              <a:gd name="adj" fmla="val 6667"/>
            </a:avLst>
          </a:prstGeom>
          <a:solidFill>
            <a:schemeClr val="accent6"/>
          </a:solidFill>
          <a:ln w="12700">
            <a:solidFill>
              <a:schemeClr val="accent6"/>
            </a:solidFill>
            <a:prstDash val="solid"/>
          </a:ln>
        </p:spPr>
      </p:sp>
      <p:sp>
        <p:nvSpPr>
          <p:cNvPr id="8" name="Schema enforcement código"/>
          <p:cNvSpPr txBox="1"/>
          <p:nvPr/>
        </p:nvSpPr>
        <p:spPr>
          <a:xfrm>
            <a:off x="777240" y="3931920"/>
            <a:ext cx="4846320" cy="1005840"/>
          </a:xfrm>
          <a:prstGeom prst="rect">
            <a:avLst/>
          </a:prstGeom>
          <a:noFill/>
          <a:ln/>
        </p:spPr>
        <p:txBody>
          <a:bodyPr wrap="square" lIns="0" tIns="0" rIns="0" bIns="0" rtlCol="0" anchor="t"/>
          <a:lstStyle/>
          <a:p>
            <a:pPr marL="0" indent="0">
              <a:buNone/>
            </a:pPr>
            <a:r>
              <a:rPr lang="en-US" sz="1400" dirty="0">
                <a:solidFill>
                  <a:srgbClr val="E7ECF5"/>
                </a:solidFill>
                <a:latin typeface="Courier New" pitchFamily="34" charset="0"/>
                <a:ea typeface="Courier New" pitchFamily="34" charset="-122"/>
                <a:cs typeface="Courier New" pitchFamily="34" charset="-120"/>
              </a:rPr>
              <a:t>df.write.mode("append")</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  .saveAsTable("transacciones")</a:t>
            </a:r>
            <a:endParaRPr lang="en-US" sz="1400" dirty="0"/>
          </a:p>
          <a:p>
            <a:pPr marL="0" indent="0">
              <a:buNone/>
            </a:pPr>
            <a:r>
              <a:rPr lang="en-US" sz="1400" dirty="0">
                <a:solidFill>
                  <a:srgbClr val="8FA3BF"/>
                </a:solidFill>
                <a:latin typeface="Courier New" pitchFamily="34" charset="0"/>
                <a:ea typeface="Courier New" pitchFamily="34" charset="-122"/>
                <a:cs typeface="Courier New" pitchFamily="34" charset="-120"/>
              </a:rPr>
              <a:t># Error: la columna 'canal' no existe</a:t>
            </a:r>
            <a:endParaRPr lang="en-US" sz="1400" dirty="0"/>
          </a:p>
        </p:txBody>
      </p:sp>
      <p:sp>
        <p:nvSpPr>
          <p:cNvPr id="9" name="Schema evolution círculo"/>
          <p:cNvSpPr/>
          <p:nvPr/>
        </p:nvSpPr>
        <p:spPr>
          <a:xfrm>
            <a:off x="6217920" y="1554480"/>
            <a:ext cx="685800" cy="685800"/>
          </a:xfrm>
          <a:prstGeom prst="ellipse">
            <a:avLst/>
          </a:prstGeom>
          <a:solidFill>
            <a:schemeClr val="accent2"/>
          </a:solidFill>
          <a:ln w="12700">
            <a:solidFill>
              <a:schemeClr val="accent2"/>
            </a:solidFill>
            <a:prstDash val="solid"/>
          </a:ln>
        </p:spPr>
      </p:sp>
      <p:pic>
        <p:nvPicPr>
          <p:cNvPr id="10" name="Schema evolution ícono" descr="preencoded.png"/>
          <p:cNvPicPr>
            <a:picLocks noChangeAspect="1"/>
          </p:cNvPicPr>
          <p:nvPr/>
        </p:nvPicPr>
        <p:blipFill>
          <a:blip r:embed="rId4"/>
          <a:stretch>
            <a:fillRect/>
          </a:stretch>
        </p:blipFill>
        <p:spPr>
          <a:xfrm>
            <a:off x="6396228" y="1732788"/>
            <a:ext cx="329184" cy="329184"/>
          </a:xfrm>
          <a:prstGeom prst="rect">
            <a:avLst/>
          </a:prstGeom>
        </p:spPr>
      </p:pic>
      <p:sp>
        <p:nvSpPr>
          <p:cNvPr id="11" name="Schema evolution título"/>
          <p:cNvSpPr txBox="1"/>
          <p:nvPr/>
        </p:nvSpPr>
        <p:spPr>
          <a:xfrm>
            <a:off x="7086600" y="1645920"/>
            <a:ext cx="4389120" cy="457200"/>
          </a:xfrm>
          <a:prstGeom prst="rect">
            <a:avLst/>
          </a:prstGeom>
          <a:noFill/>
          <a:ln/>
        </p:spPr>
        <p:txBody>
          <a:bodyPr wrap="square" lIns="0" tIns="0" rIns="0" bIns="0" rtlCol="0" anchor="t"/>
          <a:lstStyle/>
          <a:p>
            <a:pPr marL="0" indent="0">
              <a:buNone/>
            </a:pPr>
            <a:r>
              <a:rPr lang="en-US" sz="2000" b="1" dirty="0">
                <a:solidFill>
                  <a:schemeClr val="tx1"/>
                </a:solidFill>
              </a:rPr>
              <a:t>Schema evolution</a:t>
            </a:r>
            <a:endParaRPr lang="en-US" sz="2000" dirty="0"/>
          </a:p>
        </p:txBody>
      </p:sp>
      <p:sp>
        <p:nvSpPr>
          <p:cNvPr id="12" name="Schema evolution texto"/>
          <p:cNvSpPr txBox="1"/>
          <p:nvPr/>
        </p:nvSpPr>
        <p:spPr>
          <a:xfrm>
            <a:off x="6217920" y="2423160"/>
            <a:ext cx="5303520" cy="1188720"/>
          </a:xfrm>
          <a:prstGeom prst="rect">
            <a:avLst/>
          </a:prstGeom>
          <a:noFill/>
          <a:ln/>
        </p:spPr>
        <p:txBody>
          <a:bodyPr wrap="square" lIns="0" tIns="0" rIns="0" bIns="0" rtlCol="0" anchor="t"/>
          <a:lstStyle/>
          <a:p>
            <a:pPr marL="0" indent="0">
              <a:buNone/>
            </a:pPr>
            <a:r>
              <a:rPr lang="en-US" sz="1500" dirty="0">
                <a:solidFill>
                  <a:schemeClr val="tx1"/>
                </a:solidFill>
              </a:rPr>
              <a:t>Si la columna nueva es esperada, mergeSchema la agrega. Las filas anteriores quedan con NULL.</a:t>
            </a:r>
            <a:endParaRPr lang="en-US" sz="1500" dirty="0"/>
          </a:p>
        </p:txBody>
      </p:sp>
      <p:sp>
        <p:nvSpPr>
          <p:cNvPr id="13" name="Schema evolution código fondo"/>
          <p:cNvSpPr/>
          <p:nvPr/>
        </p:nvSpPr>
        <p:spPr>
          <a:xfrm>
            <a:off x="6217920" y="3749040"/>
            <a:ext cx="5303520" cy="1371600"/>
          </a:xfrm>
          <a:prstGeom prst="roundRect">
            <a:avLst>
              <a:gd name="adj" fmla="val 6667"/>
            </a:avLst>
          </a:prstGeom>
          <a:solidFill>
            <a:schemeClr val="accent6"/>
          </a:solidFill>
          <a:ln w="12700">
            <a:solidFill>
              <a:schemeClr val="accent6"/>
            </a:solidFill>
            <a:prstDash val="solid"/>
          </a:ln>
        </p:spPr>
      </p:sp>
      <p:sp>
        <p:nvSpPr>
          <p:cNvPr id="14" name="Schema evolution código"/>
          <p:cNvSpPr txBox="1"/>
          <p:nvPr/>
        </p:nvSpPr>
        <p:spPr>
          <a:xfrm>
            <a:off x="6446520" y="3931920"/>
            <a:ext cx="4846320" cy="1005840"/>
          </a:xfrm>
          <a:prstGeom prst="rect">
            <a:avLst/>
          </a:prstGeom>
          <a:noFill/>
          <a:ln/>
        </p:spPr>
        <p:txBody>
          <a:bodyPr wrap="square" lIns="0" tIns="0" rIns="0" bIns="0" rtlCol="0" anchor="t"/>
          <a:lstStyle/>
          <a:p>
            <a:pPr marL="0" indent="0">
              <a:buNone/>
            </a:pPr>
            <a:r>
              <a:rPr lang="en-US" sz="1400" dirty="0">
                <a:solidFill>
                  <a:srgbClr val="E7ECF5"/>
                </a:solidFill>
                <a:latin typeface="Courier New" pitchFamily="34" charset="0"/>
                <a:ea typeface="Courier New" pitchFamily="34" charset="-122"/>
                <a:cs typeface="Courier New" pitchFamily="34" charset="-120"/>
              </a:rPr>
              <a:t>df.write.mode("append")</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  .option("mergeSchema", "true")</a:t>
            </a:r>
            <a:endParaRPr lang="en-US" sz="1400" dirty="0"/>
          </a:p>
          <a:p>
            <a:pPr marL="0" indent="0">
              <a:buNone/>
            </a:pPr>
            <a:r>
              <a:rPr lang="en-US" sz="1400" dirty="0">
                <a:solidFill>
                  <a:srgbClr val="E7ECF5"/>
                </a:solidFill>
                <a:latin typeface="Courier New" pitchFamily="34" charset="0"/>
                <a:ea typeface="Courier New" pitchFamily="34" charset="-122"/>
                <a:cs typeface="Courier New" pitchFamily="34" charset="-120"/>
              </a:rPr>
              <a:t>  .saveAsTable("transacciones")</a:t>
            </a:r>
            <a:endParaRPr lang="en-US" sz="1400" dirty="0"/>
          </a:p>
        </p:txBody>
      </p:sp>
      <p:sp>
        <p:nvSpPr>
          <p:cNvPr id="15" name="Nota schema"/>
          <p:cNvSpPr txBox="1"/>
          <p:nvPr/>
        </p:nvSpPr>
        <p:spPr>
          <a:xfrm>
            <a:off x="548640" y="5349240"/>
            <a:ext cx="10972800" cy="731520"/>
          </a:xfrm>
          <a:prstGeom prst="rect">
            <a:avLst/>
          </a:prstGeom>
          <a:noFill/>
          <a:ln/>
        </p:spPr>
        <p:txBody>
          <a:bodyPr wrap="square" lIns="0" tIns="0" rIns="0" bIns="0" rtlCol="0" anchor="t"/>
          <a:lstStyle/>
          <a:p>
            <a:pPr marL="0" indent="0">
              <a:buNone/>
            </a:pPr>
            <a:r>
              <a:rPr lang="en-US" sz="1300" dirty="0">
                <a:solidFill>
                  <a:schemeClr val="accent4"/>
                </a:solidFill>
              </a:rPr>
              <a:t>En Python porque el examen pregunta mergeSchema así. En SQL, una columna se agrega con ALTER TABLE ... ADD COLUMN. overwriteSchema reemplaza el schema completo y va con mode("overwrite").</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11480"/>
            <a:ext cx="11094415" cy="822960"/>
          </a:xfrm>
          <a:prstGeom prst="rect">
            <a:avLst/>
          </a:prstGeom>
          <a:noFill/>
          <a:ln/>
        </p:spPr>
        <p:txBody>
          <a:bodyPr wrap="square" lIns="0" tIns="0" rIns="0" bIns="0" rtlCol="0" anchor="t"/>
          <a:lstStyle/>
          <a:p>
            <a:pPr marL="0" indent="0" algn="l">
              <a:buNone/>
            </a:pPr>
            <a:r>
              <a:rPr lang="en-US" sz="3000" b="1" dirty="0">
                <a:solidFill>
                  <a:schemeClr val="tx2"/>
                </a:solidFill>
              </a:rPr>
              <a:t>Lo que suele preguntar el examen</a:t>
            </a:r>
            <a:endParaRPr lang="en-US" sz="3000" dirty="0"/>
          </a:p>
        </p:txBody>
      </p:sp>
      <p:sp>
        <p:nvSpPr>
          <p:cNvPr id="3" name="Examen Compute"/>
          <p:cNvSpPr/>
          <p:nvPr/>
        </p:nvSpPr>
        <p:spPr>
          <a:xfrm>
            <a:off x="548640" y="1508760"/>
            <a:ext cx="3474720" cy="2057400"/>
          </a:xfrm>
          <a:prstGeom prst="roundRect">
            <a:avLst>
              <a:gd name="adj" fmla="val 5333"/>
            </a:avLst>
          </a:prstGeom>
          <a:solidFill>
            <a:schemeClr val="bg2"/>
          </a:solidFill>
          <a:ln w="12700">
            <a:solidFill>
              <a:schemeClr val="bg2"/>
            </a:solidFill>
            <a:prstDash val="solid"/>
          </a:ln>
        </p:spPr>
      </p:sp>
      <p:sp>
        <p:nvSpPr>
          <p:cNvPr id="4" name="Examen Compute círculo"/>
          <p:cNvSpPr/>
          <p:nvPr/>
        </p:nvSpPr>
        <p:spPr>
          <a:xfrm>
            <a:off x="822960" y="1783080"/>
            <a:ext cx="548640" cy="548640"/>
          </a:xfrm>
          <a:prstGeom prst="ellipse">
            <a:avLst/>
          </a:prstGeom>
          <a:solidFill>
            <a:schemeClr val="accent2"/>
          </a:solidFill>
          <a:ln w="12700">
            <a:solidFill>
              <a:schemeClr val="accent2"/>
            </a:solidFill>
            <a:prstDash val="solid"/>
          </a:ln>
        </p:spPr>
      </p:sp>
      <p:pic>
        <p:nvPicPr>
          <p:cNvPr id="5" name="Examen Compute ícono" descr="preencoded.png"/>
          <p:cNvPicPr>
            <a:picLocks noChangeAspect="1"/>
          </p:cNvPicPr>
          <p:nvPr/>
        </p:nvPicPr>
        <p:blipFill>
          <a:blip r:embed="rId3"/>
          <a:stretch>
            <a:fillRect/>
          </a:stretch>
        </p:blipFill>
        <p:spPr>
          <a:xfrm>
            <a:off x="965606" y="1925726"/>
            <a:ext cx="263347" cy="263347"/>
          </a:xfrm>
          <a:prstGeom prst="rect">
            <a:avLst/>
          </a:prstGeom>
        </p:spPr>
      </p:pic>
      <p:sp>
        <p:nvSpPr>
          <p:cNvPr id="6" name="Examen título Compute"/>
          <p:cNvSpPr txBox="1"/>
          <p:nvPr/>
        </p:nvSpPr>
        <p:spPr>
          <a:xfrm>
            <a:off x="1554480" y="1856232"/>
            <a:ext cx="2286000" cy="411480"/>
          </a:xfrm>
          <a:prstGeom prst="rect">
            <a:avLst/>
          </a:prstGeom>
          <a:noFill/>
          <a:ln/>
        </p:spPr>
        <p:txBody>
          <a:bodyPr wrap="square" lIns="0" tIns="0" rIns="0" bIns="0" rtlCol="0" anchor="t"/>
          <a:lstStyle/>
          <a:p>
            <a:pPr marL="0" indent="0">
              <a:buNone/>
            </a:pPr>
            <a:r>
              <a:rPr lang="en-US" sz="1800" b="1" dirty="0">
                <a:solidFill>
                  <a:schemeClr val="tx1"/>
                </a:solidFill>
              </a:rPr>
              <a:t>Compute</a:t>
            </a:r>
            <a:endParaRPr lang="en-US" sz="1800" dirty="0"/>
          </a:p>
        </p:txBody>
      </p:sp>
      <p:sp>
        <p:nvSpPr>
          <p:cNvPr id="7" name="Examen texto Compute"/>
          <p:cNvSpPr txBox="1"/>
          <p:nvPr/>
        </p:nvSpPr>
        <p:spPr>
          <a:xfrm>
            <a:off x="822960" y="2468880"/>
            <a:ext cx="2926080" cy="960120"/>
          </a:xfrm>
          <a:prstGeom prst="rect">
            <a:avLst/>
          </a:prstGeom>
          <a:noFill/>
          <a:ln/>
        </p:spPr>
        <p:txBody>
          <a:bodyPr wrap="square" lIns="0" tIns="0" rIns="0" bIns="0" rtlCol="0" anchor="t"/>
          <a:lstStyle/>
          <a:p>
            <a:pPr marL="0" indent="0">
              <a:buNone/>
            </a:pPr>
            <a:r>
              <a:rPr lang="en-US" sz="1400" dirty="0">
                <a:solidFill>
                  <a:schemeClr val="tx1"/>
                </a:solidFill>
              </a:rPr>
              <a:t>Job compute o serverless para procesos programados; SQL warehouse para dashboards</a:t>
            </a:r>
            <a:endParaRPr lang="en-US" sz="1400" dirty="0"/>
          </a:p>
        </p:txBody>
      </p:sp>
      <p:sp>
        <p:nvSpPr>
          <p:cNvPr id="8" name="Examen Unity Catalog"/>
          <p:cNvSpPr/>
          <p:nvPr/>
        </p:nvSpPr>
        <p:spPr>
          <a:xfrm>
            <a:off x="4297680" y="1508760"/>
            <a:ext cx="3474720" cy="2057400"/>
          </a:xfrm>
          <a:prstGeom prst="roundRect">
            <a:avLst>
              <a:gd name="adj" fmla="val 5333"/>
            </a:avLst>
          </a:prstGeom>
          <a:solidFill>
            <a:schemeClr val="bg2"/>
          </a:solidFill>
          <a:ln w="12700">
            <a:solidFill>
              <a:schemeClr val="bg2"/>
            </a:solidFill>
            <a:prstDash val="solid"/>
          </a:ln>
        </p:spPr>
      </p:sp>
      <p:sp>
        <p:nvSpPr>
          <p:cNvPr id="9" name="Examen Unity Catalog círculo"/>
          <p:cNvSpPr/>
          <p:nvPr/>
        </p:nvSpPr>
        <p:spPr>
          <a:xfrm>
            <a:off x="4572000" y="1783080"/>
            <a:ext cx="548640" cy="548640"/>
          </a:xfrm>
          <a:prstGeom prst="ellipse">
            <a:avLst/>
          </a:prstGeom>
          <a:solidFill>
            <a:schemeClr val="accent2"/>
          </a:solidFill>
          <a:ln w="12700">
            <a:solidFill>
              <a:schemeClr val="accent2"/>
            </a:solidFill>
            <a:prstDash val="solid"/>
          </a:ln>
        </p:spPr>
      </p:sp>
      <p:pic>
        <p:nvPicPr>
          <p:cNvPr id="10" name="Examen Unity Catalog ícono" descr="preencoded.png"/>
          <p:cNvPicPr>
            <a:picLocks noChangeAspect="1"/>
          </p:cNvPicPr>
          <p:nvPr/>
        </p:nvPicPr>
        <p:blipFill>
          <a:blip r:embed="rId3"/>
          <a:stretch>
            <a:fillRect/>
          </a:stretch>
        </p:blipFill>
        <p:spPr>
          <a:xfrm>
            <a:off x="4714646" y="1925726"/>
            <a:ext cx="263347" cy="263347"/>
          </a:xfrm>
          <a:prstGeom prst="rect">
            <a:avLst/>
          </a:prstGeom>
        </p:spPr>
      </p:pic>
      <p:sp>
        <p:nvSpPr>
          <p:cNvPr id="11" name="Examen título Unity Catalog"/>
          <p:cNvSpPr txBox="1"/>
          <p:nvPr/>
        </p:nvSpPr>
        <p:spPr>
          <a:xfrm>
            <a:off x="5303520" y="1856232"/>
            <a:ext cx="2286000" cy="411480"/>
          </a:xfrm>
          <a:prstGeom prst="rect">
            <a:avLst/>
          </a:prstGeom>
          <a:noFill/>
          <a:ln/>
        </p:spPr>
        <p:txBody>
          <a:bodyPr wrap="square" lIns="0" tIns="0" rIns="0" bIns="0" rtlCol="0" anchor="t"/>
          <a:lstStyle/>
          <a:p>
            <a:pPr marL="0" indent="0">
              <a:buNone/>
            </a:pPr>
            <a:r>
              <a:rPr lang="en-US" sz="1800" b="1" dirty="0">
                <a:solidFill>
                  <a:schemeClr val="tx1"/>
                </a:solidFill>
              </a:rPr>
              <a:t>Unity Catalog</a:t>
            </a:r>
            <a:endParaRPr lang="en-US" sz="1800" dirty="0"/>
          </a:p>
        </p:txBody>
      </p:sp>
      <p:sp>
        <p:nvSpPr>
          <p:cNvPr id="12" name="Examen texto Unity Catalog"/>
          <p:cNvSpPr txBox="1"/>
          <p:nvPr/>
        </p:nvSpPr>
        <p:spPr>
          <a:xfrm>
            <a:off x="4572000" y="2468880"/>
            <a:ext cx="2926080" cy="960120"/>
          </a:xfrm>
          <a:prstGeom prst="rect">
            <a:avLst/>
          </a:prstGeom>
          <a:noFill/>
          <a:ln/>
        </p:spPr>
        <p:txBody>
          <a:bodyPr wrap="square" lIns="0" tIns="0" rIns="0" bIns="0" rtlCol="0" anchor="t"/>
          <a:lstStyle/>
          <a:p>
            <a:pPr marL="0" indent="0">
              <a:buNone/>
            </a:pPr>
            <a:r>
              <a:rPr lang="en-US" sz="1400" dirty="0">
                <a:solidFill>
                  <a:schemeClr val="tx1"/>
                </a:solidFill>
              </a:rPr>
              <a:t>catalog.schema.tabla; el metastore se comparte entre workspaces de una región</a:t>
            </a:r>
            <a:endParaRPr lang="en-US" sz="1400" dirty="0"/>
          </a:p>
        </p:txBody>
      </p:sp>
      <p:sp>
        <p:nvSpPr>
          <p:cNvPr id="13" name="Examen Delta Log"/>
          <p:cNvSpPr/>
          <p:nvPr/>
        </p:nvSpPr>
        <p:spPr>
          <a:xfrm>
            <a:off x="8046720" y="1508760"/>
            <a:ext cx="3474720" cy="2057400"/>
          </a:xfrm>
          <a:prstGeom prst="roundRect">
            <a:avLst>
              <a:gd name="adj" fmla="val 5333"/>
            </a:avLst>
          </a:prstGeom>
          <a:solidFill>
            <a:schemeClr val="bg2"/>
          </a:solidFill>
          <a:ln w="12700">
            <a:solidFill>
              <a:schemeClr val="bg2"/>
            </a:solidFill>
            <a:prstDash val="solid"/>
          </a:ln>
        </p:spPr>
      </p:sp>
      <p:sp>
        <p:nvSpPr>
          <p:cNvPr id="14" name="Examen Delta Log círculo"/>
          <p:cNvSpPr/>
          <p:nvPr/>
        </p:nvSpPr>
        <p:spPr>
          <a:xfrm>
            <a:off x="8321040" y="1783080"/>
            <a:ext cx="548640" cy="548640"/>
          </a:xfrm>
          <a:prstGeom prst="ellipse">
            <a:avLst/>
          </a:prstGeom>
          <a:solidFill>
            <a:schemeClr val="accent2"/>
          </a:solidFill>
          <a:ln w="12700">
            <a:solidFill>
              <a:schemeClr val="accent2"/>
            </a:solidFill>
            <a:prstDash val="solid"/>
          </a:ln>
        </p:spPr>
      </p:sp>
      <p:pic>
        <p:nvPicPr>
          <p:cNvPr id="15" name="Examen Delta Log ícono" descr="preencoded.png"/>
          <p:cNvPicPr>
            <a:picLocks noChangeAspect="1"/>
          </p:cNvPicPr>
          <p:nvPr/>
        </p:nvPicPr>
        <p:blipFill>
          <a:blip r:embed="rId3"/>
          <a:stretch>
            <a:fillRect/>
          </a:stretch>
        </p:blipFill>
        <p:spPr>
          <a:xfrm>
            <a:off x="8463686" y="1925726"/>
            <a:ext cx="263347" cy="263347"/>
          </a:xfrm>
          <a:prstGeom prst="rect">
            <a:avLst/>
          </a:prstGeom>
        </p:spPr>
      </p:pic>
      <p:sp>
        <p:nvSpPr>
          <p:cNvPr id="16" name="Examen título Delta Log"/>
          <p:cNvSpPr txBox="1"/>
          <p:nvPr/>
        </p:nvSpPr>
        <p:spPr>
          <a:xfrm>
            <a:off x="9052560" y="1856232"/>
            <a:ext cx="2286000" cy="411480"/>
          </a:xfrm>
          <a:prstGeom prst="rect">
            <a:avLst/>
          </a:prstGeom>
          <a:noFill/>
          <a:ln/>
        </p:spPr>
        <p:txBody>
          <a:bodyPr wrap="square" lIns="0" tIns="0" rIns="0" bIns="0" rtlCol="0" anchor="t"/>
          <a:lstStyle/>
          <a:p>
            <a:pPr marL="0" indent="0">
              <a:buNone/>
            </a:pPr>
            <a:r>
              <a:rPr lang="en-US" sz="1800" b="1" dirty="0">
                <a:solidFill>
                  <a:schemeClr val="tx1"/>
                </a:solidFill>
              </a:rPr>
              <a:t>Delta Log</a:t>
            </a:r>
            <a:endParaRPr lang="en-US" sz="1800" dirty="0"/>
          </a:p>
        </p:txBody>
      </p:sp>
      <p:sp>
        <p:nvSpPr>
          <p:cNvPr id="17" name="Examen texto Delta Log"/>
          <p:cNvSpPr txBox="1"/>
          <p:nvPr/>
        </p:nvSpPr>
        <p:spPr>
          <a:xfrm>
            <a:off x="8321040" y="2468880"/>
            <a:ext cx="2926080" cy="960120"/>
          </a:xfrm>
          <a:prstGeom prst="rect">
            <a:avLst/>
          </a:prstGeom>
          <a:noFill/>
          <a:ln/>
        </p:spPr>
        <p:txBody>
          <a:bodyPr wrap="square" lIns="0" tIns="0" rIns="0" bIns="0" rtlCol="0" anchor="t"/>
          <a:lstStyle/>
          <a:p>
            <a:pPr marL="0" indent="0">
              <a:buNone/>
            </a:pPr>
            <a:r>
              <a:rPr lang="en-US" sz="1400" dirty="0">
                <a:solidFill>
                  <a:schemeClr val="tx1"/>
                </a:solidFill>
              </a:rPr>
              <a:t>Carpeta _delta_log con un JSON por commit; cada commit es una versión</a:t>
            </a:r>
            <a:endParaRPr lang="en-US" sz="1400" dirty="0"/>
          </a:p>
        </p:txBody>
      </p:sp>
      <p:sp>
        <p:nvSpPr>
          <p:cNvPr id="18" name="Examen Time travel"/>
          <p:cNvSpPr/>
          <p:nvPr/>
        </p:nvSpPr>
        <p:spPr>
          <a:xfrm>
            <a:off x="548640" y="3794760"/>
            <a:ext cx="3474720" cy="2057400"/>
          </a:xfrm>
          <a:prstGeom prst="roundRect">
            <a:avLst>
              <a:gd name="adj" fmla="val 5333"/>
            </a:avLst>
          </a:prstGeom>
          <a:solidFill>
            <a:schemeClr val="bg2"/>
          </a:solidFill>
          <a:ln w="12700">
            <a:solidFill>
              <a:schemeClr val="bg2"/>
            </a:solidFill>
            <a:prstDash val="solid"/>
          </a:ln>
        </p:spPr>
      </p:sp>
      <p:sp>
        <p:nvSpPr>
          <p:cNvPr id="19" name="Examen Time travel círculo"/>
          <p:cNvSpPr/>
          <p:nvPr/>
        </p:nvSpPr>
        <p:spPr>
          <a:xfrm>
            <a:off x="822960" y="4069080"/>
            <a:ext cx="548640" cy="548640"/>
          </a:xfrm>
          <a:prstGeom prst="ellipse">
            <a:avLst/>
          </a:prstGeom>
          <a:solidFill>
            <a:schemeClr val="accent2"/>
          </a:solidFill>
          <a:ln w="12700">
            <a:solidFill>
              <a:schemeClr val="accent2"/>
            </a:solidFill>
            <a:prstDash val="solid"/>
          </a:ln>
        </p:spPr>
      </p:sp>
      <p:pic>
        <p:nvPicPr>
          <p:cNvPr id="20" name="Examen Time travel ícono" descr="preencoded.png"/>
          <p:cNvPicPr>
            <a:picLocks noChangeAspect="1"/>
          </p:cNvPicPr>
          <p:nvPr/>
        </p:nvPicPr>
        <p:blipFill>
          <a:blip r:embed="rId3"/>
          <a:stretch>
            <a:fillRect/>
          </a:stretch>
        </p:blipFill>
        <p:spPr>
          <a:xfrm>
            <a:off x="965606" y="4211726"/>
            <a:ext cx="263347" cy="263347"/>
          </a:xfrm>
          <a:prstGeom prst="rect">
            <a:avLst/>
          </a:prstGeom>
        </p:spPr>
      </p:pic>
      <p:sp>
        <p:nvSpPr>
          <p:cNvPr id="21" name="Examen título Time travel"/>
          <p:cNvSpPr txBox="1"/>
          <p:nvPr/>
        </p:nvSpPr>
        <p:spPr>
          <a:xfrm>
            <a:off x="1554480" y="4142232"/>
            <a:ext cx="2286000" cy="411480"/>
          </a:xfrm>
          <a:prstGeom prst="rect">
            <a:avLst/>
          </a:prstGeom>
          <a:noFill/>
          <a:ln/>
        </p:spPr>
        <p:txBody>
          <a:bodyPr wrap="square" lIns="0" tIns="0" rIns="0" bIns="0" rtlCol="0" anchor="t"/>
          <a:lstStyle/>
          <a:p>
            <a:pPr marL="0" indent="0">
              <a:buNone/>
            </a:pPr>
            <a:r>
              <a:rPr lang="en-US" sz="1800" b="1" dirty="0">
                <a:solidFill>
                  <a:schemeClr val="tx1"/>
                </a:solidFill>
              </a:rPr>
              <a:t>Time travel</a:t>
            </a:r>
            <a:endParaRPr lang="en-US" sz="1800" dirty="0"/>
          </a:p>
        </p:txBody>
      </p:sp>
      <p:sp>
        <p:nvSpPr>
          <p:cNvPr id="22" name="Examen texto Time travel"/>
          <p:cNvSpPr txBox="1"/>
          <p:nvPr/>
        </p:nvSpPr>
        <p:spPr>
          <a:xfrm>
            <a:off x="822960" y="4754880"/>
            <a:ext cx="2926080" cy="960120"/>
          </a:xfrm>
          <a:prstGeom prst="rect">
            <a:avLst/>
          </a:prstGeom>
          <a:noFill/>
          <a:ln/>
        </p:spPr>
        <p:txBody>
          <a:bodyPr wrap="square" lIns="0" tIns="0" rIns="0" bIns="0" rtlCol="0" anchor="t"/>
          <a:lstStyle/>
          <a:p>
            <a:pPr marL="0" indent="0">
              <a:buNone/>
            </a:pPr>
            <a:r>
              <a:rPr lang="en-US" sz="1400" dirty="0">
                <a:solidFill>
                  <a:schemeClr val="tx1"/>
                </a:solidFill>
              </a:rPr>
              <a:t>VERSION AS OF, TIMESTAMP AS OF y @vN; RESTORE crea una versión nueva</a:t>
            </a:r>
            <a:endParaRPr lang="en-US" sz="1400" dirty="0"/>
          </a:p>
        </p:txBody>
      </p:sp>
      <p:sp>
        <p:nvSpPr>
          <p:cNvPr id="23" name="Examen Change Data Feed"/>
          <p:cNvSpPr/>
          <p:nvPr/>
        </p:nvSpPr>
        <p:spPr>
          <a:xfrm>
            <a:off x="4297680" y="3794760"/>
            <a:ext cx="3474720" cy="2057400"/>
          </a:xfrm>
          <a:prstGeom prst="roundRect">
            <a:avLst>
              <a:gd name="adj" fmla="val 5333"/>
            </a:avLst>
          </a:prstGeom>
          <a:solidFill>
            <a:schemeClr val="bg2"/>
          </a:solidFill>
          <a:ln w="12700">
            <a:solidFill>
              <a:schemeClr val="bg2"/>
            </a:solidFill>
            <a:prstDash val="solid"/>
          </a:ln>
        </p:spPr>
      </p:sp>
      <p:sp>
        <p:nvSpPr>
          <p:cNvPr id="24" name="Examen Change Data Feed círculo"/>
          <p:cNvSpPr/>
          <p:nvPr/>
        </p:nvSpPr>
        <p:spPr>
          <a:xfrm>
            <a:off x="4572000" y="4069080"/>
            <a:ext cx="548640" cy="548640"/>
          </a:xfrm>
          <a:prstGeom prst="ellipse">
            <a:avLst/>
          </a:prstGeom>
          <a:solidFill>
            <a:schemeClr val="accent2"/>
          </a:solidFill>
          <a:ln w="12700">
            <a:solidFill>
              <a:schemeClr val="accent2"/>
            </a:solidFill>
            <a:prstDash val="solid"/>
          </a:ln>
        </p:spPr>
      </p:sp>
      <p:pic>
        <p:nvPicPr>
          <p:cNvPr id="25" name="Examen Change Data Feed ícono" descr="preencoded.png"/>
          <p:cNvPicPr>
            <a:picLocks noChangeAspect="1"/>
          </p:cNvPicPr>
          <p:nvPr/>
        </p:nvPicPr>
        <p:blipFill>
          <a:blip r:embed="rId3"/>
          <a:stretch>
            <a:fillRect/>
          </a:stretch>
        </p:blipFill>
        <p:spPr>
          <a:xfrm>
            <a:off x="4714646" y="4211726"/>
            <a:ext cx="263347" cy="263347"/>
          </a:xfrm>
          <a:prstGeom prst="rect">
            <a:avLst/>
          </a:prstGeom>
        </p:spPr>
      </p:pic>
      <p:sp>
        <p:nvSpPr>
          <p:cNvPr id="26" name="Examen título Change Data Feed"/>
          <p:cNvSpPr txBox="1"/>
          <p:nvPr/>
        </p:nvSpPr>
        <p:spPr>
          <a:xfrm>
            <a:off x="5303520" y="4142232"/>
            <a:ext cx="2286000" cy="411480"/>
          </a:xfrm>
          <a:prstGeom prst="rect">
            <a:avLst/>
          </a:prstGeom>
          <a:noFill/>
          <a:ln/>
        </p:spPr>
        <p:txBody>
          <a:bodyPr wrap="square" lIns="0" tIns="0" rIns="0" bIns="0" rtlCol="0" anchor="t"/>
          <a:lstStyle/>
          <a:p>
            <a:pPr marL="0" indent="0">
              <a:buNone/>
            </a:pPr>
            <a:r>
              <a:rPr lang="en-US" sz="1800" b="1" dirty="0">
                <a:solidFill>
                  <a:schemeClr val="tx1"/>
                </a:solidFill>
              </a:rPr>
              <a:t>Change Data Feed</a:t>
            </a:r>
            <a:endParaRPr lang="en-US" sz="1800" dirty="0"/>
          </a:p>
        </p:txBody>
      </p:sp>
      <p:sp>
        <p:nvSpPr>
          <p:cNvPr id="27" name="Examen texto Change Data Feed"/>
          <p:cNvSpPr txBox="1"/>
          <p:nvPr/>
        </p:nvSpPr>
        <p:spPr>
          <a:xfrm>
            <a:off x="4572000" y="4754880"/>
            <a:ext cx="2926080" cy="960120"/>
          </a:xfrm>
          <a:prstGeom prst="rect">
            <a:avLst/>
          </a:prstGeom>
          <a:noFill/>
          <a:ln/>
        </p:spPr>
        <p:txBody>
          <a:bodyPr wrap="square" lIns="0" tIns="0" rIns="0" bIns="0" rtlCol="0" anchor="t"/>
          <a:lstStyle/>
          <a:p>
            <a:pPr marL="0" indent="0">
              <a:buNone/>
            </a:pPr>
            <a:r>
              <a:rPr lang="en-US" sz="1400" dirty="0">
                <a:solidFill>
                  <a:schemeClr val="tx1"/>
                </a:solidFill>
              </a:rPr>
              <a:t>Se activa con una propiedad; un UPDATE da preimage y postimage</a:t>
            </a:r>
            <a:endParaRPr lang="en-US" sz="1400" dirty="0"/>
          </a:p>
        </p:txBody>
      </p:sp>
      <p:sp>
        <p:nvSpPr>
          <p:cNvPr id="28" name="Examen Schema"/>
          <p:cNvSpPr/>
          <p:nvPr/>
        </p:nvSpPr>
        <p:spPr>
          <a:xfrm>
            <a:off x="8046720" y="3794760"/>
            <a:ext cx="3474720" cy="2057400"/>
          </a:xfrm>
          <a:prstGeom prst="roundRect">
            <a:avLst>
              <a:gd name="adj" fmla="val 5333"/>
            </a:avLst>
          </a:prstGeom>
          <a:solidFill>
            <a:schemeClr val="bg2"/>
          </a:solidFill>
          <a:ln w="12700">
            <a:solidFill>
              <a:schemeClr val="bg2"/>
            </a:solidFill>
            <a:prstDash val="solid"/>
          </a:ln>
        </p:spPr>
      </p:sp>
      <p:sp>
        <p:nvSpPr>
          <p:cNvPr id="29" name="Examen Schema círculo"/>
          <p:cNvSpPr/>
          <p:nvPr/>
        </p:nvSpPr>
        <p:spPr>
          <a:xfrm>
            <a:off x="8321040" y="4069080"/>
            <a:ext cx="548640" cy="548640"/>
          </a:xfrm>
          <a:prstGeom prst="ellipse">
            <a:avLst/>
          </a:prstGeom>
          <a:solidFill>
            <a:schemeClr val="accent2"/>
          </a:solidFill>
          <a:ln w="12700">
            <a:solidFill>
              <a:schemeClr val="accent2"/>
            </a:solidFill>
            <a:prstDash val="solid"/>
          </a:ln>
        </p:spPr>
      </p:sp>
      <p:pic>
        <p:nvPicPr>
          <p:cNvPr id="30" name="Examen Schema ícono" descr="preencoded.png"/>
          <p:cNvPicPr>
            <a:picLocks noChangeAspect="1"/>
          </p:cNvPicPr>
          <p:nvPr/>
        </p:nvPicPr>
        <p:blipFill>
          <a:blip r:embed="rId3"/>
          <a:stretch>
            <a:fillRect/>
          </a:stretch>
        </p:blipFill>
        <p:spPr>
          <a:xfrm>
            <a:off x="8463686" y="4211726"/>
            <a:ext cx="263347" cy="263347"/>
          </a:xfrm>
          <a:prstGeom prst="rect">
            <a:avLst/>
          </a:prstGeom>
        </p:spPr>
      </p:pic>
      <p:sp>
        <p:nvSpPr>
          <p:cNvPr id="31" name="Examen título Schema"/>
          <p:cNvSpPr txBox="1"/>
          <p:nvPr/>
        </p:nvSpPr>
        <p:spPr>
          <a:xfrm>
            <a:off x="9052560" y="4142232"/>
            <a:ext cx="2286000" cy="411480"/>
          </a:xfrm>
          <a:prstGeom prst="rect">
            <a:avLst/>
          </a:prstGeom>
          <a:noFill/>
          <a:ln/>
        </p:spPr>
        <p:txBody>
          <a:bodyPr wrap="square" lIns="0" tIns="0" rIns="0" bIns="0" rtlCol="0" anchor="t"/>
          <a:lstStyle/>
          <a:p>
            <a:pPr marL="0" indent="0">
              <a:buNone/>
            </a:pPr>
            <a:r>
              <a:rPr lang="en-US" sz="1800" b="1" dirty="0">
                <a:solidFill>
                  <a:schemeClr val="tx1"/>
                </a:solidFill>
              </a:rPr>
              <a:t>Schema</a:t>
            </a:r>
            <a:endParaRPr lang="en-US" sz="1800" dirty="0"/>
          </a:p>
        </p:txBody>
      </p:sp>
      <p:sp>
        <p:nvSpPr>
          <p:cNvPr id="32" name="Examen texto Schema"/>
          <p:cNvSpPr txBox="1"/>
          <p:nvPr/>
        </p:nvSpPr>
        <p:spPr>
          <a:xfrm>
            <a:off x="8321040" y="4754880"/>
            <a:ext cx="2926080" cy="960120"/>
          </a:xfrm>
          <a:prstGeom prst="rect">
            <a:avLst/>
          </a:prstGeom>
          <a:noFill/>
          <a:ln/>
        </p:spPr>
        <p:txBody>
          <a:bodyPr wrap="square" lIns="0" tIns="0" rIns="0" bIns="0" rtlCol="0" anchor="t"/>
          <a:lstStyle/>
          <a:p>
            <a:pPr marL="0" indent="0">
              <a:buNone/>
            </a:pPr>
            <a:r>
              <a:rPr lang="en-US" sz="1400" dirty="0">
                <a:solidFill>
                  <a:schemeClr val="tx1"/>
                </a:solidFill>
              </a:rPr>
              <a:t>Enforcement por defecto; mergeSchema agrega columnas, no cambia tipos</a:t>
            </a:r>
            <a:endParaRPr lang="en-US" sz="1400" dirty="0"/>
          </a:p>
        </p:txBody>
      </p:sp>
      <p:sp>
        <p:nvSpPr>
          <p:cNvPr id="33"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cierre"/>
          <p:cNvSpPr txBox="1"/>
          <p:nvPr/>
        </p:nvSpPr>
        <p:spPr>
          <a:xfrm>
            <a:off x="548640" y="1463040"/>
            <a:ext cx="8229600" cy="365760"/>
          </a:xfrm>
          <a:prstGeom prst="rect">
            <a:avLst/>
          </a:prstGeom>
          <a:noFill/>
          <a:ln/>
        </p:spPr>
        <p:txBody>
          <a:bodyPr wrap="square" lIns="0" tIns="0" rIns="0" bIns="0" rtlCol="0" anchor="t"/>
          <a:lstStyle/>
          <a:p>
            <a:pPr marL="0" indent="0">
              <a:buNone/>
            </a:pPr>
            <a:r>
              <a:rPr lang="en-US" sz="1400" b="1" kern="0" spc="200" dirty="0">
                <a:solidFill>
                  <a:schemeClr val="accent2"/>
                </a:solidFill>
              </a:rPr>
              <a:t>AHORA TE TOCA</a:t>
            </a:r>
            <a:endParaRPr lang="en-US" sz="1400" dirty="0"/>
          </a:p>
        </p:txBody>
      </p:sp>
      <p:sp>
        <p:nvSpPr>
          <p:cNvPr id="3" name="Text 0"/>
          <p:cNvSpPr>
            <a:spLocks noGrp="1"/>
          </p:cNvSpPr>
          <p:nvPr>
            <p:ph type="title" idx="100" hasCustomPrompt="1"/>
          </p:nvPr>
        </p:nvSpPr>
        <p:spPr>
          <a:xfrm>
            <a:off x="548640" y="1828800"/>
            <a:ext cx="8686800" cy="1737360"/>
          </a:xfrm>
          <a:prstGeom prst="rect">
            <a:avLst/>
          </a:prstGeom>
          <a:noFill/>
          <a:ln/>
        </p:spPr>
        <p:txBody>
          <a:bodyPr wrap="square" lIns="0" tIns="0" rIns="0" bIns="0" rtlCol="0" anchor="t"/>
          <a:lstStyle/>
          <a:p>
            <a:pPr marL="0" indent="0" algn="l">
              <a:buNone/>
            </a:pPr>
            <a:r>
              <a:rPr lang="en-US" sz="4400" b="1" dirty="0">
                <a:solidFill>
                  <a:schemeClr val="bg1"/>
                </a:solidFill>
              </a:rPr>
              <a:t>Abre el notebook </a:t>
            </a:r>
            <a:r>
              <a:rPr lang="en-US" sz="4400" b="1" dirty="0" smtClean="0">
                <a:solidFill>
                  <a:schemeClr val="bg1"/>
                </a:solidFill>
              </a:rPr>
              <a:t>00_plataforma_y_delta_lake </a:t>
            </a:r>
            <a:r>
              <a:rPr lang="en-US" sz="4400" b="1" dirty="0">
                <a:solidFill>
                  <a:schemeClr val="bg1"/>
                </a:solidFill>
              </a:rPr>
              <a:t>y ejecútalo de arriba hacia abajo</a:t>
            </a:r>
            <a:endParaRPr lang="en-US" sz="4400" dirty="0"/>
          </a:p>
        </p:txBody>
      </p:sp>
      <p:sp>
        <p:nvSpPr>
          <p:cNvPr id="4" name="Text 0"/>
          <p:cNvSpPr>
            <a:spLocks noGrp="1"/>
          </p:cNvSpPr>
          <p:nvPr>
            <p:ph type="body" idx="101" hasCustomPrompt="1"/>
          </p:nvPr>
        </p:nvSpPr>
        <p:spPr>
          <a:xfrm>
            <a:off x="548640" y="3977640"/>
            <a:ext cx="8686800" cy="914400"/>
          </a:xfrm>
          <a:prstGeom prst="rect">
            <a:avLst/>
          </a:prstGeom>
          <a:noFill/>
          <a:ln/>
        </p:spPr>
        <p:txBody>
          <a:bodyPr wrap="square" lIns="0" tIns="0" rIns="0" bIns="0" rtlCol="0" anchor="t"/>
          <a:lstStyle/>
          <a:p>
            <a:pPr marL="0" indent="0">
              <a:buNone/>
            </a:pPr>
            <a:r>
              <a:rPr lang="en-US" sz="1800" dirty="0">
                <a:solidFill>
                  <a:schemeClr val="bg2"/>
                </a:solidFill>
              </a:rPr>
              <a:t>Después, responde el Cuestionario 1 sobre estos mismos temas</a:t>
            </a:r>
            <a:endParaRPr lang="en-US" sz="1800" dirty="0"/>
          </a:p>
        </p:txBody>
      </p:sp>
      <p:sp>
        <p:nvSpPr>
          <p:cNvPr id="5" name="Cierre círculo"/>
          <p:cNvSpPr/>
          <p:nvPr/>
        </p:nvSpPr>
        <p:spPr>
          <a:xfrm>
            <a:off x="9509760" y="2011680"/>
            <a:ext cx="2011680" cy="2011680"/>
          </a:xfrm>
          <a:prstGeom prst="ellipse">
            <a:avLst/>
          </a:prstGeom>
          <a:solidFill>
            <a:schemeClr val="accent2"/>
          </a:solidFill>
          <a:ln w="12700">
            <a:solidFill>
              <a:schemeClr val="accent2"/>
            </a:solidFill>
            <a:prstDash val="solid"/>
          </a:ln>
        </p:spPr>
      </p:sp>
      <p:pic>
        <p:nvPicPr>
          <p:cNvPr id="6" name="Cierre ícono" descr="preencoded.png"/>
          <p:cNvPicPr>
            <a:picLocks noChangeAspect="1"/>
          </p:cNvPicPr>
          <p:nvPr/>
        </p:nvPicPr>
        <p:blipFill>
          <a:blip r:embed="rId3"/>
          <a:stretch>
            <a:fillRect/>
          </a:stretch>
        </p:blipFill>
        <p:spPr>
          <a:xfrm>
            <a:off x="10032797" y="2534717"/>
            <a:ext cx="965606" cy="96560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PT Delta Lake">
  <a:themeElements>
    <a:clrScheme name="TPT Delta Lake">
      <a:dk1>
        <a:srgbClr val="17202E"/>
      </a:dk1>
      <a:lt1>
        <a:srgbClr val="FFFFFF"/>
      </a:lt1>
      <a:dk2>
        <a:srgbClr val="1B2A4A"/>
      </a:dk2>
      <a:lt2>
        <a:srgbClr val="EEF2F7"/>
      </a:lt2>
      <a:accent1>
        <a:srgbClr val="1B2A4A"/>
      </a:accent1>
      <a:accent2>
        <a:srgbClr val="0E8C7F"/>
      </a:accent2>
      <a:accent3>
        <a:srgbClr val="E8590C"/>
      </a:accent3>
      <a:accent4>
        <a:srgbClr val="5B6678"/>
      </a:accent4>
      <a:accent5>
        <a:srgbClr val="D9E2EE"/>
      </a:accent5>
      <a:accent6>
        <a:srgbClr val="0B1626"/>
      </a:accent6>
      <a:hlink>
        <a:srgbClr val="0E8C7F"/>
      </a:hlink>
      <a:folHlink>
        <a:srgbClr val="5B6678"/>
      </a:folHlink>
    </a:clrScheme>
    <a:fontScheme name="TPT Delta Lak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1500</Words>
  <Application>Microsoft Office PowerPoint</Application>
  <PresentationFormat>Panorámica</PresentationFormat>
  <Paragraphs>214</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Courier New</vt:lpstr>
      <vt:lpstr>TPT Delta Lake</vt:lpstr>
      <vt:lpstr>Delta Lake: cómo funciona una tabla</vt:lpstr>
      <vt:lpstr>Qué vas a aprender hoy</vt:lpstr>
      <vt:lpstr>Recorrido por el workspace</vt:lpstr>
      <vt:lpstr>Cinco secciones del menú lateral cubren todo el curso</vt:lpstr>
      <vt:lpstr>Cada tipo de compute tiene su uso</vt:lpstr>
      <vt:lpstr>Todo dato vive en una jerarquía de tres niveles</vt:lpstr>
      <vt:lpstr>Delta Lake por dentro</vt:lpstr>
      <vt:lpstr>El lakehouse une data lake y data warehouse</vt:lpstr>
      <vt:lpstr>Una tabla Delta: archivos Parquet y un registro de cambios</vt:lpstr>
      <vt:lpstr>Cada cambio crea una versión nueva de la tabla</vt:lpstr>
      <vt:lpstr>Time travel: consulta la tabla como estaba antes</vt:lpstr>
      <vt:lpstr>Change Data Feed: qué cambió, fila por fila</vt:lpstr>
      <vt:lpstr>Delta protege el schema, y lo cambia solo si se lo pides</vt:lpstr>
      <vt:lpstr>Lo que suele preguntar el examen</vt:lpstr>
      <vt:lpstr>Abre el notebook 00_plataforma_y_delta_lake y ejecútalo de arriba hacia abajo</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Laboratorio 0: Delta Lake</dc:title>
  <dc:subject>PptxGenJS Presentation</dc:subject>
  <dc:creator>TALENTO PARA TI</dc:creator>
  <cp:lastModifiedBy>Usuario</cp:lastModifiedBy>
  <cp:revision>2</cp:revision>
  <dcterms:created xsi:type="dcterms:W3CDTF">2026-10-15T18:43:16Z</dcterms:created>
  <dcterms:modified xsi:type="dcterms:W3CDTF">2026-10-15T20:29:02Z</dcterms:modified>
</cp:coreProperties>
</file>